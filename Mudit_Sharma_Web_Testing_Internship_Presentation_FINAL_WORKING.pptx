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image" Target="../media/image-10-1.png"/><Relationship Id="rId6" Type="http://schemas.openxmlformats.org/officeDocument/2006/relationships/image" Target="../media/image-10-1.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1.jp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0" y="502920"/>
            <a:ext cx="12191695" cy="502920"/>
          </a:xfrm>
          <a:prstGeom prst="rect">
            <a:avLst/>
          </a:prstGeom>
          <a:noFill/>
        </p:spPr>
        <p:txBody>
          <a:bodyPr wrap="none" anchor="ctr">
            <a:spAutoFit/>
          </a:bodyPr>
          <a:lstStyle/>
          <a:p>
            <a:pPr algn="ctr"/>
            <a:r>
              <a:rPr sz="2800" b="1">
                <a:solidFill>
                  <a:srgbClr val="000000"/>
                </a:solidFill>
                <a:latin typeface="Arial"/>
              </a:rPr>
              <a:t>PPT</a:t>
            </a:r>
          </a:p>
        </p:txBody>
      </p:sp>
      <p:sp>
        <p:nvSpPr>
          <p:cNvPr id="3" name="TextBox 2"/>
          <p:cNvSpPr txBox="1"/>
          <p:nvPr/>
        </p:nvSpPr>
        <p:spPr>
          <a:xfrm>
            <a:off x="0" y="1005840"/>
            <a:ext cx="12191695" cy="347472"/>
          </a:xfrm>
          <a:prstGeom prst="rect">
            <a:avLst/>
          </a:prstGeom>
          <a:noFill/>
        </p:spPr>
        <p:txBody>
          <a:bodyPr wrap="none" anchor="ctr">
            <a:spAutoFit/>
          </a:bodyPr>
          <a:lstStyle/>
          <a:p>
            <a:pPr algn="ctr"/>
            <a:r>
              <a:rPr sz="1700" b="0">
                <a:solidFill>
                  <a:srgbClr val="000000"/>
                </a:solidFill>
                <a:latin typeface="Arial"/>
              </a:rPr>
              <a:t>of</a:t>
            </a:r>
          </a:p>
        </p:txBody>
      </p:sp>
      <p:sp>
        <p:nvSpPr>
          <p:cNvPr id="4" name="TextBox 3"/>
          <p:cNvSpPr txBox="1"/>
          <p:nvPr/>
        </p:nvSpPr>
        <p:spPr>
          <a:xfrm>
            <a:off x="0" y="1325880"/>
            <a:ext cx="12191695" cy="502920"/>
          </a:xfrm>
          <a:prstGeom prst="rect">
            <a:avLst/>
          </a:prstGeom>
          <a:noFill/>
        </p:spPr>
        <p:txBody>
          <a:bodyPr wrap="none" anchor="ctr">
            <a:spAutoFit/>
          </a:bodyPr>
          <a:lstStyle/>
          <a:p>
            <a:pPr algn="ctr"/>
            <a:r>
              <a:rPr sz="2700" b="1">
                <a:solidFill>
                  <a:srgbClr val="000000"/>
                </a:solidFill>
                <a:latin typeface="Arial"/>
              </a:rPr>
              <a:t>Web Testing Intern</a:t>
            </a:r>
          </a:p>
        </p:txBody>
      </p:sp>
      <p:sp>
        <p:nvSpPr>
          <p:cNvPr id="5" name="TextBox 4"/>
          <p:cNvSpPr txBox="1"/>
          <p:nvPr/>
        </p:nvSpPr>
        <p:spPr>
          <a:xfrm>
            <a:off x="0" y="1874519"/>
            <a:ext cx="12191695" cy="365760"/>
          </a:xfrm>
          <a:prstGeom prst="rect">
            <a:avLst/>
          </a:prstGeom>
          <a:noFill/>
        </p:spPr>
        <p:txBody>
          <a:bodyPr wrap="none" anchor="ctr">
            <a:spAutoFit/>
          </a:bodyPr>
          <a:lstStyle/>
          <a:p>
            <a:pPr algn="ctr"/>
            <a:r>
              <a:rPr sz="1700" b="0">
                <a:solidFill>
                  <a:srgbClr val="000000"/>
                </a:solidFill>
                <a:latin typeface="Arial"/>
              </a:rPr>
              <a:t>Submitted</a:t>
            </a:r>
          </a:p>
        </p:txBody>
      </p:sp>
      <p:sp>
        <p:nvSpPr>
          <p:cNvPr id="6" name="TextBox 5"/>
          <p:cNvSpPr txBox="1"/>
          <p:nvPr/>
        </p:nvSpPr>
        <p:spPr>
          <a:xfrm>
            <a:off x="0" y="2240280"/>
            <a:ext cx="12191695" cy="365760"/>
          </a:xfrm>
          <a:prstGeom prst="rect">
            <a:avLst/>
          </a:prstGeom>
          <a:noFill/>
        </p:spPr>
        <p:txBody>
          <a:bodyPr wrap="none" anchor="ctr">
            <a:spAutoFit/>
          </a:bodyPr>
          <a:lstStyle/>
          <a:p>
            <a:pPr algn="ctr"/>
            <a:r>
              <a:rPr sz="1700" b="0">
                <a:solidFill>
                  <a:srgbClr val="000000"/>
                </a:solidFill>
                <a:latin typeface="Arial"/>
              </a:rPr>
              <a:t>To</a:t>
            </a:r>
          </a:p>
        </p:txBody>
      </p:sp>
      <p:sp>
        <p:nvSpPr>
          <p:cNvPr id="7" name="TextBox 6"/>
          <p:cNvSpPr txBox="1"/>
          <p:nvPr/>
        </p:nvSpPr>
        <p:spPr>
          <a:xfrm>
            <a:off x="0" y="2670048"/>
            <a:ext cx="12191695" cy="411480"/>
          </a:xfrm>
          <a:prstGeom prst="rect">
            <a:avLst/>
          </a:prstGeom>
          <a:noFill/>
        </p:spPr>
        <p:txBody>
          <a:bodyPr wrap="none" anchor="ctr">
            <a:spAutoFit/>
          </a:bodyPr>
          <a:lstStyle/>
          <a:p>
            <a:pPr algn="ctr"/>
            <a:r>
              <a:rPr sz="1800" b="1">
                <a:solidFill>
                  <a:srgbClr val="000000"/>
                </a:solidFill>
                <a:latin typeface="Arial"/>
              </a:rPr>
              <a:t>School of Computer Science and Engineering</a:t>
            </a:r>
          </a:p>
        </p:txBody>
      </p:sp>
      <p:sp>
        <p:nvSpPr>
          <p:cNvPr id="8" name="TextBox 7"/>
          <p:cNvSpPr txBox="1"/>
          <p:nvPr/>
        </p:nvSpPr>
        <p:spPr>
          <a:xfrm>
            <a:off x="0" y="3090672"/>
            <a:ext cx="12191695" cy="411480"/>
          </a:xfrm>
          <a:prstGeom prst="rect">
            <a:avLst/>
          </a:prstGeom>
          <a:noFill/>
        </p:spPr>
        <p:txBody>
          <a:bodyPr wrap="none" anchor="ctr">
            <a:spAutoFit/>
          </a:bodyPr>
          <a:lstStyle/>
          <a:p>
            <a:pPr algn="ctr"/>
            <a:r>
              <a:rPr sz="1800" b="1">
                <a:solidFill>
                  <a:srgbClr val="000000"/>
                </a:solidFill>
                <a:latin typeface="Arial"/>
              </a:rPr>
              <a:t>IILM University, Greater Noida, U.P.</a:t>
            </a:r>
          </a:p>
        </p:txBody>
      </p:sp>
      <p:sp>
        <p:nvSpPr>
          <p:cNvPr id="9" name="TextBox 8"/>
          <p:cNvSpPr txBox="1"/>
          <p:nvPr/>
        </p:nvSpPr>
        <p:spPr>
          <a:xfrm>
            <a:off x="0" y="3547872"/>
            <a:ext cx="12191695" cy="365760"/>
          </a:xfrm>
          <a:prstGeom prst="rect">
            <a:avLst/>
          </a:prstGeom>
          <a:noFill/>
        </p:spPr>
        <p:txBody>
          <a:bodyPr wrap="none" anchor="ctr">
            <a:spAutoFit/>
          </a:bodyPr>
          <a:lstStyle/>
          <a:p>
            <a:pPr algn="ctr"/>
            <a:r>
              <a:rPr sz="1400" b="0">
                <a:solidFill>
                  <a:srgbClr val="000000"/>
                </a:solidFill>
                <a:latin typeface="Arial"/>
              </a:rPr>
              <a:t>In partial fulfilment of the requirement of degree of</a:t>
            </a:r>
          </a:p>
        </p:txBody>
      </p:sp>
      <p:sp>
        <p:nvSpPr>
          <p:cNvPr id="10" name="TextBox 9"/>
          <p:cNvSpPr txBox="1"/>
          <p:nvPr/>
        </p:nvSpPr>
        <p:spPr>
          <a:xfrm>
            <a:off x="0" y="3950208"/>
            <a:ext cx="12191695" cy="384048"/>
          </a:xfrm>
          <a:prstGeom prst="rect">
            <a:avLst/>
          </a:prstGeom>
          <a:noFill/>
        </p:spPr>
        <p:txBody>
          <a:bodyPr wrap="none" anchor="ctr">
            <a:spAutoFit/>
          </a:bodyPr>
          <a:lstStyle/>
          <a:p>
            <a:pPr algn="ctr"/>
            <a:r>
              <a:rPr sz="1800" b="1">
                <a:solidFill>
                  <a:srgbClr val="000000"/>
                </a:solidFill>
                <a:latin typeface="Arial"/>
              </a:rPr>
              <a:t>B.Tech CSE</a:t>
            </a:r>
          </a:p>
        </p:txBody>
      </p:sp>
      <p:pic>
        <p:nvPicPr>
          <p:cNvPr id="11" name="Picture 10" descr="iilm_logo_crop.png"/>
          <p:cNvPicPr>
            <a:picLocks noChangeAspect="1"/>
          </p:cNvPicPr>
          <p:nvPr/>
        </p:nvPicPr>
        <p:blipFill>
          <a:blip r:embed="rId3"/>
          <a:stretch>
            <a:fillRect/>
          </a:stretch>
        </p:blipFill>
        <p:spPr>
          <a:xfrm>
            <a:off x="5285232" y="4370832"/>
            <a:ext cx="1235479" cy="1325880"/>
          </a:xfrm>
          <a:prstGeom prst="rect">
            <a:avLst/>
          </a:prstGeom>
        </p:spPr>
      </p:pic>
      <p:sp>
        <p:nvSpPr>
          <p:cNvPr id="12" name="TextBox 11"/>
          <p:cNvSpPr txBox="1"/>
          <p:nvPr/>
        </p:nvSpPr>
        <p:spPr>
          <a:xfrm>
            <a:off x="0" y="5687568"/>
            <a:ext cx="12191695" cy="320040"/>
          </a:xfrm>
          <a:prstGeom prst="rect">
            <a:avLst/>
          </a:prstGeom>
          <a:noFill/>
        </p:spPr>
        <p:txBody>
          <a:bodyPr wrap="none" anchor="ctr">
            <a:spAutoFit/>
          </a:bodyPr>
          <a:lstStyle/>
          <a:p>
            <a:pPr algn="ctr"/>
            <a:r>
              <a:rPr sz="1500" b="0">
                <a:solidFill>
                  <a:srgbClr val="000000"/>
                </a:solidFill>
                <a:latin typeface="Arial"/>
              </a:rPr>
              <a:t>By</a:t>
            </a:r>
          </a:p>
        </p:txBody>
      </p:sp>
      <p:sp>
        <p:nvSpPr>
          <p:cNvPr id="13" name="TextBox 12"/>
          <p:cNvSpPr txBox="1"/>
          <p:nvPr/>
        </p:nvSpPr>
        <p:spPr>
          <a:xfrm>
            <a:off x="0" y="6016752"/>
            <a:ext cx="12191695" cy="320040"/>
          </a:xfrm>
          <a:prstGeom prst="rect">
            <a:avLst/>
          </a:prstGeom>
          <a:noFill/>
        </p:spPr>
        <p:txBody>
          <a:bodyPr wrap="none" anchor="ctr">
            <a:spAutoFit/>
          </a:bodyPr>
          <a:lstStyle/>
          <a:p>
            <a:pPr algn="ctr"/>
            <a:r>
              <a:rPr sz="1500" b="1">
                <a:solidFill>
                  <a:srgbClr val="000000"/>
                </a:solidFill>
                <a:latin typeface="Arial"/>
              </a:rPr>
              <a:t>Roll Number of Student: 25SCS1003002812</a:t>
            </a:r>
          </a:p>
        </p:txBody>
      </p:sp>
      <p:sp>
        <p:nvSpPr>
          <p:cNvPr id="14" name="TextBox 13"/>
          <p:cNvSpPr txBox="1"/>
          <p:nvPr/>
        </p:nvSpPr>
        <p:spPr>
          <a:xfrm>
            <a:off x="0" y="6336792"/>
            <a:ext cx="12191695" cy="320040"/>
          </a:xfrm>
          <a:prstGeom prst="rect">
            <a:avLst/>
          </a:prstGeom>
          <a:noFill/>
        </p:spPr>
        <p:txBody>
          <a:bodyPr wrap="none" anchor="ctr">
            <a:spAutoFit/>
          </a:bodyPr>
          <a:lstStyle/>
          <a:p>
            <a:pPr algn="ctr"/>
            <a:r>
              <a:rPr sz="1500" b="1">
                <a:solidFill>
                  <a:srgbClr val="000000"/>
                </a:solidFill>
                <a:latin typeface="Arial"/>
              </a:rPr>
              <a:t>Name of Student: MUDIT SHARMA</a:t>
            </a:r>
          </a:p>
        </p:txBody>
      </p:sp>
      <p:sp>
        <p:nvSpPr>
          <p:cNvPr id="15" name="TextBox 14"/>
          <p:cNvSpPr txBox="1"/>
          <p:nvPr/>
        </p:nvSpPr>
        <p:spPr>
          <a:xfrm>
            <a:off x="0" y="6629400"/>
            <a:ext cx="12191695" cy="228600"/>
          </a:xfrm>
          <a:prstGeom prst="rect">
            <a:avLst/>
          </a:prstGeom>
          <a:noFill/>
        </p:spPr>
        <p:txBody>
          <a:bodyPr wrap="none" anchor="ctr">
            <a:spAutoFit/>
          </a:bodyPr>
          <a:lstStyle/>
          <a:p>
            <a:pPr algn="ctr"/>
            <a:r>
              <a:rPr sz="1400" b="1">
                <a:solidFill>
                  <a:srgbClr val="000000"/>
                </a:solidFill>
                <a:latin typeface="Arial"/>
              </a:rPr>
              <a:t>Batch: 2025-29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Introduction</a:t>
            </a:r>
            <a:endParaRPr lang="en-US" sz="3200" dirty="0"/>
          </a:p>
        </p:txBody>
      </p:sp>
      <p:sp>
        <p:nvSpPr>
          <p:cNvPr id="3" name="Shape 1"/>
          <p:cNvSpPr/>
          <p:nvPr/>
        </p:nvSpPr>
        <p:spPr>
          <a:xfrm>
            <a:off x="640080" y="1554480"/>
            <a:ext cx="1005840" cy="1005840"/>
          </a:xfrm>
          <a:prstGeom prst="ellipse">
            <a:avLst/>
          </a:prstGeom>
          <a:solidFill>
            <a:srgbClr val="065A82"/>
          </a:solidFill>
          <a:ln/>
        </p:spPr>
        <p:txBody>
          <a:bodyPr/>
          <a:p/>
        </p:txBody>
      </p:sp>
      <p:pic>
        <p:nvPicPr>
          <p:cNvPr id="4" name="Image 0" descr="assets/icons/intro.png">    </p:cNvPr>
          <p:cNvPicPr>
            <a:picLocks noChangeAspect="1"/>
          </p:cNvPicPr>
          <p:nvPr/>
        </p:nvPicPr>
        <p:blipFill>
          <a:blip r:embed="rId1"/>
          <a:stretch>
            <a:fillRect/>
          </a:stretch>
        </p:blipFill>
        <p:spPr>
          <a:xfrm>
            <a:off x="901598" y="1815998"/>
            <a:ext cx="482803" cy="482803"/>
          </a:xfrm>
          <a:prstGeom prst="rect">
            <a:avLst/>
          </a:prstGeom>
        </p:spPr>
      </p:pic>
      <p:sp>
        <p:nvSpPr>
          <p:cNvPr id="5" name="Text 2"/>
          <p:cNvSpPr/>
          <p:nvPr/>
        </p:nvSpPr>
        <p:spPr>
          <a:xfrm>
            <a:off x="2011680" y="1554480"/>
            <a:ext cx="9509760" cy="1097280"/>
          </a:xfrm>
          <a:prstGeom prst="rect">
            <a:avLst/>
          </a:prstGeom>
          <a:noFill/>
          <a:ln/>
        </p:spPr>
        <p:txBody>
          <a:bodyPr wrap="square" rtlCol="0" anchor="ctr"/>
          <a:lstStyle/>
          <a:p>
            <a:pPr indent="0" marL="0">
              <a:buNone/>
            </a:pPr>
            <a:r>
              <a:t>Web testing is the systematic process of checking a website to ensure that its functions, user interface, performance and integrations work correctly. During this 30-day internship, I gained practical exposure to software quality assurance while working on a real website project.</a:t>
            </a:r>
            <a:endParaRPr lang="en-US" sz="1600" dirty="0"/>
          </a:p>
        </p:txBody>
      </p:sp>
      <p:sp>
        <p:nvSpPr>
          <p:cNvPr id="6" name="Shape 3"/>
          <p:cNvSpPr/>
          <p:nvPr/>
        </p:nvSpPr>
        <p:spPr>
          <a:xfrm>
            <a:off x="640080" y="2971800"/>
            <a:ext cx="3520440" cy="237744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7" name="Shape 4"/>
          <p:cNvSpPr/>
          <p:nvPr/>
        </p:nvSpPr>
        <p:spPr>
          <a:xfrm>
            <a:off x="914400" y="3246120"/>
            <a:ext cx="502920" cy="502920"/>
          </a:xfrm>
          <a:prstGeom prst="roundRect">
            <a:avLst>
              <a:gd name="adj" fmla="val 18182"/>
            </a:avLst>
          </a:prstGeom>
          <a:solidFill>
            <a:srgbClr val="1C7293"/>
          </a:solidFill>
          <a:ln/>
        </p:spPr>
        <p:txBody>
          <a:bodyPr/>
          <a:p/>
        </p:txBody>
      </p:sp>
      <p:sp>
        <p:nvSpPr>
          <p:cNvPr id="8" name="Text 5"/>
          <p:cNvSpPr/>
          <p:nvPr/>
        </p:nvSpPr>
        <p:spPr>
          <a:xfrm>
            <a:off x="914400" y="324612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914400" y="3886200"/>
            <a:ext cx="2971800" cy="365760"/>
          </a:xfrm>
          <a:prstGeom prst="rect">
            <a:avLst/>
          </a:prstGeom>
          <a:noFill/>
          <a:ln/>
        </p:spPr>
        <p:txBody>
          <a:bodyPr wrap="square" rtlCol="0" anchor="ctr"/>
          <a:lstStyle/>
          <a:p>
            <a:pPr indent="0" marL="0">
              <a:buNone/>
            </a:pPr>
            <a:r>
              <a:t>The Internship</a:t>
            </a:r>
            <a:endParaRPr lang="en-US" sz="1500" dirty="0"/>
          </a:p>
        </p:txBody>
      </p:sp>
      <p:sp>
        <p:nvSpPr>
          <p:cNvPr id="10" name="Text 7"/>
          <p:cNvSpPr/>
          <p:nvPr/>
        </p:nvSpPr>
        <p:spPr>
          <a:xfrm>
            <a:off x="914400" y="4251960"/>
            <a:ext cx="2971800" cy="1005840"/>
          </a:xfrm>
          <a:prstGeom prst="rect">
            <a:avLst/>
          </a:prstGeom>
          <a:noFill/>
          <a:ln/>
        </p:spPr>
        <p:txBody>
          <a:bodyPr wrap="square" rtlCol="0" anchor="t"/>
          <a:lstStyle/>
          <a:p>
            <a:pPr indent="0" marL="0">
              <a:buNone/>
            </a:pPr>
            <a:r>
              <a:t>Successfully completed a 30-day Web Testing Internship at Dikshay’s Finetune from 20 July 2026 to 20 August 2026.</a:t>
            </a:r>
            <a:endParaRPr lang="en-US" sz="1250" dirty="0"/>
          </a:p>
        </p:txBody>
      </p:sp>
      <p:sp>
        <p:nvSpPr>
          <p:cNvPr id="11" name="Shape 8"/>
          <p:cNvSpPr/>
          <p:nvPr/>
        </p:nvSpPr>
        <p:spPr>
          <a:xfrm>
            <a:off x="4480560" y="2971800"/>
            <a:ext cx="3520440" cy="237744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2" name="Shape 9"/>
          <p:cNvSpPr/>
          <p:nvPr/>
        </p:nvSpPr>
        <p:spPr>
          <a:xfrm>
            <a:off x="4754880" y="3246120"/>
            <a:ext cx="502920" cy="502920"/>
          </a:xfrm>
          <a:prstGeom prst="roundRect">
            <a:avLst>
              <a:gd name="adj" fmla="val 18182"/>
            </a:avLst>
          </a:prstGeom>
          <a:solidFill>
            <a:srgbClr val="1C7293"/>
          </a:solidFill>
          <a:ln/>
        </p:spPr>
        <p:txBody>
          <a:bodyPr/>
          <a:p/>
        </p:txBody>
      </p:sp>
      <p:sp>
        <p:nvSpPr>
          <p:cNvPr id="13" name="Text 10"/>
          <p:cNvSpPr/>
          <p:nvPr/>
        </p:nvSpPr>
        <p:spPr>
          <a:xfrm>
            <a:off x="4754880" y="324612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4754880" y="3886200"/>
            <a:ext cx="2971800" cy="365760"/>
          </a:xfrm>
          <a:prstGeom prst="rect">
            <a:avLst/>
          </a:prstGeom>
          <a:noFill/>
          <a:ln/>
        </p:spPr>
        <p:txBody>
          <a:bodyPr wrap="square" rtlCol="0" anchor="ctr"/>
          <a:lstStyle/>
          <a:p>
            <a:pPr indent="0" marL="0">
              <a:buNone/>
            </a:pPr>
            <a:r>
              <a:t>What I Practised</a:t>
            </a:r>
            <a:endParaRPr lang="en-US" sz="1500" dirty="0"/>
          </a:p>
        </p:txBody>
      </p:sp>
      <p:sp>
        <p:nvSpPr>
          <p:cNvPr id="15" name="Text 12"/>
          <p:cNvSpPr/>
          <p:nvPr/>
        </p:nvSpPr>
        <p:spPr>
          <a:xfrm>
            <a:off x="4754880" y="4251960"/>
            <a:ext cx="2971800" cy="1005840"/>
          </a:xfrm>
          <a:prstGeom prst="rect">
            <a:avLst/>
          </a:prstGeom>
          <a:noFill/>
          <a:ln/>
        </p:spPr>
        <p:txBody>
          <a:bodyPr wrap="square" rtlCol="0" anchor="t"/>
          <a:lstStyle/>
          <a:p>
            <a:pPr indent="0" marL="0">
              <a:buNone/>
            </a:pPr>
            <a:r>
              <a:t>Functional testing, UI testing, test-case creation and execution, defect identification and reporting, regression testing, and API testing.</a:t>
            </a:r>
            <a:endParaRPr lang="en-US" sz="1250" dirty="0"/>
          </a:p>
        </p:txBody>
      </p:sp>
      <p:sp>
        <p:nvSpPr>
          <p:cNvPr id="16" name="Shape 13"/>
          <p:cNvSpPr/>
          <p:nvPr/>
        </p:nvSpPr>
        <p:spPr>
          <a:xfrm>
            <a:off x="8321040" y="2971800"/>
            <a:ext cx="3520440" cy="237744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7" name="Shape 14"/>
          <p:cNvSpPr/>
          <p:nvPr/>
        </p:nvSpPr>
        <p:spPr>
          <a:xfrm>
            <a:off x="8595360" y="3246120"/>
            <a:ext cx="502920" cy="502920"/>
          </a:xfrm>
          <a:prstGeom prst="roundRect">
            <a:avLst>
              <a:gd name="adj" fmla="val 18182"/>
            </a:avLst>
          </a:prstGeom>
          <a:solidFill>
            <a:srgbClr val="1C7293"/>
          </a:solidFill>
          <a:ln/>
        </p:spPr>
        <p:txBody>
          <a:bodyPr/>
          <a:p/>
        </p:txBody>
      </p:sp>
      <p:sp>
        <p:nvSpPr>
          <p:cNvPr id="18" name="Text 15"/>
          <p:cNvSpPr/>
          <p:nvPr/>
        </p:nvSpPr>
        <p:spPr>
          <a:xfrm>
            <a:off x="8595360" y="324612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6"/>
          <p:cNvSpPr/>
          <p:nvPr/>
        </p:nvSpPr>
        <p:spPr>
          <a:xfrm>
            <a:off x="8595360" y="3886200"/>
            <a:ext cx="2971800" cy="365760"/>
          </a:xfrm>
          <a:prstGeom prst="rect">
            <a:avLst/>
          </a:prstGeom>
          <a:noFill/>
          <a:ln/>
        </p:spPr>
        <p:txBody>
          <a:bodyPr wrap="square" rtlCol="0" anchor="ctr"/>
          <a:lstStyle/>
          <a:p>
            <a:pPr indent="0" marL="0">
              <a:buNone/>
            </a:pPr>
            <a:r>
              <a:t>The Outcome</a:t>
            </a:r>
            <a:endParaRPr lang="en-US" sz="1500" dirty="0"/>
          </a:p>
        </p:txBody>
      </p:sp>
      <p:sp>
        <p:nvSpPr>
          <p:cNvPr id="20" name="Text 17"/>
          <p:cNvSpPr/>
          <p:nvPr/>
        </p:nvSpPr>
        <p:spPr>
          <a:xfrm>
            <a:off x="8595360" y="4251960"/>
            <a:ext cx="2971800" cy="1005840"/>
          </a:xfrm>
          <a:prstGeom prst="rect">
            <a:avLst/>
          </a:prstGeom>
          <a:noFill/>
          <a:ln/>
        </p:spPr>
        <p:txBody>
          <a:bodyPr wrap="square" rtlCol="0" anchor="t"/>
          <a:lstStyle/>
          <a:p>
            <a:pPr indent="0" marL="0">
              <a:buNone/>
            </a:pPr>
            <a:r>
              <a:t>Developed practical QA skills, attention to detail, debugging support experience, and an understanding of structured website testing.</a:t>
            </a:r>
            <a:endParaRPr lang="en-US" sz="1250" dirty="0"/>
          </a:p>
        </p:txBody>
      </p:sp>
      <p:sp>
        <p:nvSpPr>
          <p:cNvPr id="21" name="Text 18"/>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2" name="Text 19"/>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Organization Profile — Dikshay’s Finetune</a:t>
            </a:r>
            <a:endParaRPr lang="en-US" sz="3200" dirty="0"/>
          </a:p>
        </p:txBody>
      </p:sp>
      <p:sp>
        <p:nvSpPr>
          <p:cNvPr id="3" name="Text 1"/>
          <p:cNvSpPr/>
          <p:nvPr/>
        </p:nvSpPr>
        <p:spPr>
          <a:xfrm>
            <a:off x="640080" y="1417320"/>
            <a:ext cx="6492240" cy="2743200"/>
          </a:xfrm>
          <a:prstGeom prst="rect">
            <a:avLst/>
          </a:prstGeom>
          <a:noFill/>
          <a:ln/>
        </p:spPr>
        <p:txBody>
          <a:bodyPr wrap="square" rtlCol="0" anchor="ctr" lIns="73152" rIns="73152"/>
          <a:lstStyle/>
          <a:p>
            <a:pPr indent="0" marL="0">
              <a:lnSpc>
                <a:spcPct val="125000"/>
              </a:lnSpc>
              <a:buNone/>
            </a:pPr>
            <a:r>
              <a:rPr sz="1500"/>
              <a:t>Dikshay’s Finetune is the organization where I completed my Web Testing Internship. The internship provided practical exposure to website quality assurance and testing activities, including functional verification, UI/UX checks, defect tracking, regression testing and API validation.</a:t>
            </a:r>
            <a:endParaRPr lang="en-US" sz="1500" dirty="0"/>
          </a:p>
        </p:txBody>
      </p:sp>
      <p:sp>
        <p:nvSpPr>
          <p:cNvPr id="4" name="Shape 2"/>
          <p:cNvSpPr/>
          <p:nvPr/>
        </p:nvSpPr>
        <p:spPr>
          <a:xfrm>
            <a:off x="7498080" y="1463040"/>
            <a:ext cx="4023360" cy="1280160"/>
          </a:xfrm>
          <a:prstGeom prst="roundRect">
            <a:avLst>
              <a:gd name="adj" fmla="val 5714"/>
            </a:avLst>
          </a:prstGeom>
          <a:solidFill>
            <a:srgbClr val="21295C"/>
          </a:solidFill>
          <a:ln/>
        </p:spPr>
        <p:txBody>
          <a:bodyPr wrap="square" anchor="ctr"/>
          <a:p/>
        </p:txBody>
      </p:sp>
      <p:sp>
        <p:nvSpPr>
          <p:cNvPr id="5" name="Text 3"/>
          <p:cNvSpPr/>
          <p:nvPr/>
        </p:nvSpPr>
        <p:spPr>
          <a:xfrm>
            <a:off x="7772400" y="1627632"/>
            <a:ext cx="1463040" cy="685800"/>
          </a:xfrm>
          <a:prstGeom prst="rect">
            <a:avLst/>
          </a:prstGeom>
          <a:noFill/>
          <a:ln/>
        </p:spPr>
        <p:txBody>
          <a:bodyPr wrap="square" rtlCol="0" anchor="ctr"/>
          <a:lstStyle/>
          <a:p>
            <a:pPr indent="0" marL="0" algn="ctr">
              <a:buNone/>
            </a:pPr>
            <a:r>
              <a:rPr sz="2000" b="1"/>
              <a:t>30</a:t>
            </a:r>
            <a:endParaRPr lang="en-US" sz="3400" dirty="0"/>
          </a:p>
        </p:txBody>
      </p:sp>
      <p:sp>
        <p:nvSpPr>
          <p:cNvPr id="6" name="Text 4"/>
          <p:cNvSpPr/>
          <p:nvPr/>
        </p:nvSpPr>
        <p:spPr>
          <a:xfrm>
            <a:off x="9235440" y="1600200"/>
            <a:ext cx="2103120" cy="822960"/>
          </a:xfrm>
          <a:prstGeom prst="rect">
            <a:avLst/>
          </a:prstGeom>
          <a:noFill/>
          <a:ln/>
        </p:spPr>
        <p:txBody>
          <a:bodyPr wrap="square" rtlCol="0" anchor="ctr"/>
          <a:lstStyle/>
          <a:p>
            <a:pPr indent="0" marL="0" algn="ctr">
              <a:buNone/>
            </a:pPr>
            <a:r>
              <a:rPr sz="1200" b="1"/>
              <a:t>Days of
internship</a:t>
            </a:r>
            <a:endParaRPr lang="en-US" sz="1200" dirty="0"/>
          </a:p>
        </p:txBody>
      </p:sp>
      <p:sp>
        <p:nvSpPr>
          <p:cNvPr id="7" name="Shape 5"/>
          <p:cNvSpPr/>
          <p:nvPr/>
        </p:nvSpPr>
        <p:spPr>
          <a:xfrm>
            <a:off x="7498080" y="3017520"/>
            <a:ext cx="4023360" cy="1280160"/>
          </a:xfrm>
          <a:prstGeom prst="roundRect">
            <a:avLst>
              <a:gd name="adj" fmla="val 5714"/>
            </a:avLst>
          </a:prstGeom>
          <a:solidFill>
            <a:srgbClr val="21295C"/>
          </a:solidFill>
          <a:ln/>
        </p:spPr>
        <p:txBody>
          <a:bodyPr wrap="square" anchor="ctr"/>
          <a:p/>
        </p:txBody>
      </p:sp>
      <p:sp>
        <p:nvSpPr>
          <p:cNvPr id="8" name="Text 6"/>
          <p:cNvSpPr/>
          <p:nvPr/>
        </p:nvSpPr>
        <p:spPr>
          <a:xfrm>
            <a:off x="7772400" y="3182112"/>
            <a:ext cx="1463040" cy="713232"/>
          </a:xfrm>
          <a:prstGeom prst="rect">
            <a:avLst/>
          </a:prstGeom>
          <a:noFill/>
          <a:ln/>
        </p:spPr>
        <p:txBody>
          <a:bodyPr wrap="square" rtlCol="0" anchor="ctr"/>
          <a:lstStyle/>
          <a:p>
            <a:pPr indent="0" marL="0" algn="ctr">
              <a:buNone/>
            </a:pPr>
            <a:r>
              <a:rPr sz="1200" b="1"/>
              <a:t>20 Jul – 20 Aug</a:t>
            </a:r>
            <a:endParaRPr lang="en-US" sz="3400" dirty="0"/>
          </a:p>
        </p:txBody>
      </p:sp>
      <p:sp>
        <p:nvSpPr>
          <p:cNvPr id="9" name="Text 7"/>
          <p:cNvSpPr/>
          <p:nvPr/>
        </p:nvSpPr>
        <p:spPr>
          <a:xfrm>
            <a:off x="9235440" y="3163824"/>
            <a:ext cx="2103120" cy="822960"/>
          </a:xfrm>
          <a:prstGeom prst="rect">
            <a:avLst/>
          </a:prstGeom>
          <a:noFill/>
          <a:ln/>
        </p:spPr>
        <p:txBody>
          <a:bodyPr wrap="square" rtlCol="0" anchor="ctr"/>
          <a:lstStyle/>
          <a:p>
            <a:pPr indent="0" marL="0" algn="ctr">
              <a:buNone/>
            </a:pPr>
            <a:r>
              <a:rPr sz="1200" b="1"/>
              <a:t>Internship
period</a:t>
            </a:r>
            <a:endParaRPr lang="en-US" sz="1200" dirty="0"/>
          </a:p>
        </p:txBody>
      </p:sp>
      <p:sp>
        <p:nvSpPr>
          <p:cNvPr id="10" name="Shape 8"/>
          <p:cNvSpPr/>
          <p:nvPr/>
        </p:nvSpPr>
        <p:spPr>
          <a:xfrm>
            <a:off x="640080" y="4572000"/>
            <a:ext cx="10881360" cy="1371600"/>
          </a:xfrm>
          <a:prstGeom prst="roundRect">
            <a:avLst>
              <a:gd name="adj" fmla="val 5333"/>
            </a:avLst>
          </a:prstGeom>
          <a:solidFill>
            <a:srgbClr val="F4F7FA"/>
          </a:solidFill>
          <a:ln w="12700">
            <a:solidFill>
              <a:srgbClr val="DCE4EE"/>
            </a:solidFill>
            <a:prstDash val="solid"/>
          </a:ln>
        </p:spPr>
        <p:txBody>
          <a:bodyPr wrap="square" anchor="ctr"/>
          <a:p/>
        </p:txBody>
      </p:sp>
      <p:sp>
        <p:nvSpPr>
          <p:cNvPr id="11" name="Shape 9"/>
          <p:cNvSpPr/>
          <p:nvPr/>
        </p:nvSpPr>
        <p:spPr>
          <a:xfrm>
            <a:off x="868680" y="4800600"/>
            <a:ext cx="914400" cy="914400"/>
          </a:xfrm>
          <a:prstGeom prst="ellipse">
            <a:avLst/>
          </a:prstGeom>
          <a:solidFill>
            <a:srgbClr val="1C7293"/>
          </a:solidFill>
          <a:ln/>
        </p:spPr>
        <p:txBody>
          <a:bodyPr wrap="square" anchor="ctr"/>
          <a:p/>
        </p:txBody>
      </p:sp>
      <p:pic>
        <p:nvPicPr>
          <p:cNvPr id="12" name="Image 0" descr="assets/icons/org.png">    </p:cNvPr>
          <p:cNvPicPr>
            <a:picLocks noChangeAspect="1"/>
          </p:cNvPicPr>
          <p:nvPr/>
        </p:nvPicPr>
        <p:blipFill>
          <a:blip r:embed="rId1"/>
          <a:stretch>
            <a:fillRect/>
          </a:stretch>
        </p:blipFill>
        <p:spPr>
          <a:xfrm>
            <a:off x="1106424" y="5038344"/>
            <a:ext cx="438912" cy="438912"/>
          </a:xfrm>
          <a:prstGeom prst="rect">
            <a:avLst/>
          </a:prstGeom>
        </p:spPr>
      </p:pic>
      <p:sp>
        <p:nvSpPr>
          <p:cNvPr id="13" name="Text 10"/>
          <p:cNvSpPr/>
          <p:nvPr/>
        </p:nvSpPr>
        <p:spPr>
          <a:xfrm>
            <a:off x="2011680" y="4590288"/>
            <a:ext cx="9326880" cy="1078992"/>
          </a:xfrm>
          <a:prstGeom prst="rect">
            <a:avLst/>
          </a:prstGeom>
          <a:noFill/>
          <a:ln/>
        </p:spPr>
        <p:txBody>
          <a:bodyPr wrap="square" rtlCol="0" anchor="ctr" lIns="73152" rIns="73152" tIns="36576" bIns="36576"/>
          <a:lstStyle/>
          <a:p>
            <a:pPr indent="0" marL="0">
              <a:buNone/>
            </a:pPr>
            <a:r>
              <a:rPr sz="1300"/>
              <a:t>My internship work focused on the Nisha Kohlani Aesthetic Website project. I worked closely on testing activities and contributed to identifying issues, validating fixes, and improving the overall quality and reliability of the website.</a:t>
            </a:r>
            <a:endParaRPr lang="en-US" sz="1350" dirty="0"/>
          </a:p>
        </p:txBody>
      </p:sp>
      <p:sp>
        <p:nvSpPr>
          <p:cNvPr id="14" name="Text 11"/>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15" name="Text 12"/>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Problem Statement</a:t>
            </a:r>
            <a:endParaRPr lang="en-US" sz="3200" dirty="0"/>
          </a:p>
        </p:txBody>
      </p:sp>
      <p:sp>
        <p:nvSpPr>
          <p:cNvPr id="3" name="Shape 1"/>
          <p:cNvSpPr/>
          <p:nvPr/>
        </p:nvSpPr>
        <p:spPr>
          <a:xfrm>
            <a:off x="640080" y="1554480"/>
            <a:ext cx="1005840" cy="1005840"/>
          </a:xfrm>
          <a:prstGeom prst="ellipse">
            <a:avLst/>
          </a:prstGeom>
          <a:solidFill>
            <a:srgbClr val="B23A48"/>
          </a:solidFill>
          <a:ln/>
        </p:spPr>
        <p:txBody>
          <a:bodyPr/>
          <a:p/>
        </p:txBody>
      </p:sp>
      <p:pic>
        <p:nvPicPr>
          <p:cNvPr id="4" name="Image 0" descr="assets/icons/problem.png">    </p:cNvPr>
          <p:cNvPicPr>
            <a:picLocks noChangeAspect="1"/>
          </p:cNvPicPr>
          <p:nvPr/>
        </p:nvPicPr>
        <p:blipFill>
          <a:blip r:embed="rId1"/>
          <a:stretch>
            <a:fillRect/>
          </a:stretch>
        </p:blipFill>
        <p:spPr>
          <a:xfrm>
            <a:off x="901598" y="1815998"/>
            <a:ext cx="482803" cy="482803"/>
          </a:xfrm>
          <a:prstGeom prst="rect">
            <a:avLst/>
          </a:prstGeom>
        </p:spPr>
      </p:pic>
      <p:sp>
        <p:nvSpPr>
          <p:cNvPr id="5" name="Text 2"/>
          <p:cNvSpPr/>
          <p:nvPr/>
        </p:nvSpPr>
        <p:spPr>
          <a:xfrm>
            <a:off x="2011680" y="1554480"/>
            <a:ext cx="9418320" cy="1280160"/>
          </a:xfrm>
          <a:prstGeom prst="rect">
            <a:avLst/>
          </a:prstGeom>
          <a:noFill/>
          <a:ln/>
        </p:spPr>
        <p:txBody>
          <a:bodyPr wrap="square" rtlCol="0" anchor="ctr"/>
          <a:lstStyle/>
          <a:p>
            <a:pPr indent="0" marL="0">
              <a:buNone/>
            </a:pPr>
            <a:r>
              <a:t>Websites can contain functional defects, UI inconsistencies, broken workflows, API issues and regression bugs that affect user experience. The objective of testing was to identify such issues systematically and provide clear information for correction.</a:t>
            </a:r>
            <a:endParaRPr lang="en-US" sz="1600" dirty="0"/>
          </a:p>
        </p:txBody>
      </p:sp>
      <p:sp>
        <p:nvSpPr>
          <p:cNvPr id="6" name="Shape 3"/>
          <p:cNvSpPr/>
          <p:nvPr/>
        </p:nvSpPr>
        <p:spPr>
          <a:xfrm>
            <a:off x="640080" y="3063240"/>
            <a:ext cx="10881360" cy="0"/>
          </a:xfrm>
          <a:prstGeom prst="line">
            <a:avLst/>
          </a:prstGeom>
          <a:noFill/>
          <a:ln w="12700">
            <a:solidFill>
              <a:srgbClr val="DCE4EE"/>
            </a:solidFill>
            <a:prstDash val="solid"/>
          </a:ln>
        </p:spPr>
        <p:txBody>
          <a:bodyPr/>
          <a:p/>
        </p:txBody>
      </p:sp>
      <p:sp>
        <p:nvSpPr>
          <p:cNvPr id="7" name="Shape 4"/>
          <p:cNvSpPr/>
          <p:nvPr/>
        </p:nvSpPr>
        <p:spPr>
          <a:xfrm>
            <a:off x="640080" y="3429000"/>
            <a:ext cx="365760" cy="365760"/>
          </a:xfrm>
          <a:prstGeom prst="ellipse">
            <a:avLst/>
          </a:prstGeom>
          <a:solidFill>
            <a:srgbClr val="065A82"/>
          </a:solidFill>
          <a:ln/>
        </p:spPr>
        <p:txBody>
          <a:bodyPr/>
          <a:p/>
        </p:txBody>
      </p:sp>
      <p:sp>
        <p:nvSpPr>
          <p:cNvPr id="8" name="Text 5"/>
          <p:cNvSpPr/>
          <p:nvPr/>
        </p:nvSpPr>
        <p:spPr>
          <a:xfrm>
            <a:off x="640080" y="34290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234440" y="3383280"/>
            <a:ext cx="10149840" cy="822960"/>
          </a:xfrm>
          <a:prstGeom prst="rect">
            <a:avLst/>
          </a:prstGeom>
          <a:noFill/>
          <a:ln/>
        </p:spPr>
        <p:txBody>
          <a:bodyPr wrap="square" rtlCol="0" anchor="ctr"/>
          <a:lstStyle/>
          <a:p>
            <a:pPr indent="0" marL="0">
              <a:buNone/>
            </a:pPr>
            <a:r>
              <a:t>Identify Functional Issues</a:t>
            </a:r>
            <a:endParaRPr lang="en-US" sz="1500" dirty="0"/>
          </a:p>
        </p:txBody>
      </p:sp>
      <p:sp>
        <p:nvSpPr>
          <p:cNvPr id="10" name="Shape 7"/>
          <p:cNvSpPr/>
          <p:nvPr/>
        </p:nvSpPr>
        <p:spPr>
          <a:xfrm>
            <a:off x="640080" y="4434840"/>
            <a:ext cx="365760" cy="365760"/>
          </a:xfrm>
          <a:prstGeom prst="ellipse">
            <a:avLst/>
          </a:prstGeom>
          <a:solidFill>
            <a:srgbClr val="065A82"/>
          </a:solidFill>
          <a:ln/>
        </p:spPr>
        <p:txBody>
          <a:bodyPr/>
          <a:p/>
        </p:txBody>
      </p:sp>
      <p:sp>
        <p:nvSpPr>
          <p:cNvPr id="11" name="Text 8"/>
          <p:cNvSpPr/>
          <p:nvPr/>
        </p:nvSpPr>
        <p:spPr>
          <a:xfrm>
            <a:off x="640080" y="4434840"/>
            <a:ext cx="365760" cy="365760"/>
          </a:xfrm>
          <a:prstGeom prst="rect">
            <a:avLst/>
          </a:prstGeom>
          <a:noFill/>
          <a:ln/>
        </p:spPr>
        <p:txBody>
          <a:bodyPr wrap="square" rtlCol="0" anchor="ctr"/>
          <a:lstStyle/>
          <a:p>
            <a:pPr algn="ctr" indent="0" marL="0">
              <a:buNone/>
            </a:pPr>
            <a:r>
              <a:t>2</a:t>
            </a:r>
            <a:endParaRPr lang="en-US" sz="1400" dirty="0"/>
          </a:p>
        </p:txBody>
      </p:sp>
      <p:sp>
        <p:nvSpPr>
          <p:cNvPr id="12" name="Text 9"/>
          <p:cNvSpPr/>
          <p:nvPr/>
        </p:nvSpPr>
        <p:spPr>
          <a:xfrm>
            <a:off x="1234440" y="4389120"/>
            <a:ext cx="10149840" cy="822960"/>
          </a:xfrm>
          <a:prstGeom prst="rect">
            <a:avLst/>
          </a:prstGeom>
          <a:noFill/>
          <a:ln/>
        </p:spPr>
        <p:txBody>
          <a:bodyPr wrap="square" rtlCol="0" anchor="ctr"/>
          <a:lstStyle/>
          <a:p>
            <a:pPr indent="0" marL="0">
              <a:buNone/>
            </a:pPr>
            <a:r>
              <a:t>Verify UI and UX by checking layouts, navigation, consistency, responsiveness and usability.</a:t>
            </a:r>
            <a:endParaRPr lang="en-US" sz="1500" dirty="0"/>
          </a:p>
        </p:txBody>
      </p:sp>
      <p:sp>
        <p:nvSpPr>
          <p:cNvPr id="13" name="Shape 10"/>
          <p:cNvSpPr/>
          <p:nvPr/>
        </p:nvSpPr>
        <p:spPr>
          <a:xfrm>
            <a:off x="640080" y="5440680"/>
            <a:ext cx="365760" cy="365760"/>
          </a:xfrm>
          <a:prstGeom prst="ellipse">
            <a:avLst/>
          </a:prstGeom>
          <a:solidFill>
            <a:srgbClr val="065A82"/>
          </a:solidFill>
          <a:ln/>
        </p:spPr>
        <p:txBody>
          <a:bodyPr/>
          <a:p/>
        </p:txBody>
      </p:sp>
      <p:sp>
        <p:nvSpPr>
          <p:cNvPr id="14" name="Text 11"/>
          <p:cNvSpPr/>
          <p:nvPr/>
        </p:nvSpPr>
        <p:spPr>
          <a:xfrm>
            <a:off x="640080" y="5440680"/>
            <a:ext cx="365760" cy="365760"/>
          </a:xfrm>
          <a:prstGeom prst="rect">
            <a:avLst/>
          </a:prstGeom>
          <a:noFill/>
          <a:ln/>
        </p:spPr>
        <p:txBody>
          <a:bodyPr wrap="square" rtlCol="0" anchor="ctr"/>
          <a:lstStyle/>
          <a:p>
            <a:pPr algn="ctr" indent="0" marL="0">
              <a:buNone/>
            </a:pPr>
            <a:r>
              <a:t>3</a:t>
            </a:r>
            <a:endParaRPr lang="en-US" sz="1400" dirty="0"/>
          </a:p>
        </p:txBody>
      </p:sp>
      <p:sp>
        <p:nvSpPr>
          <p:cNvPr id="15" name="Text 12"/>
          <p:cNvSpPr/>
          <p:nvPr/>
        </p:nvSpPr>
        <p:spPr>
          <a:xfrm>
            <a:off x="1234440" y="5394960"/>
            <a:ext cx="10149840" cy="822960"/>
          </a:xfrm>
          <a:prstGeom prst="rect">
            <a:avLst/>
          </a:prstGeom>
          <a:noFill/>
          <a:ln/>
        </p:spPr>
        <p:txBody>
          <a:bodyPr wrap="square" rtlCol="0" anchor="ctr"/>
          <a:lstStyle/>
          <a:p>
            <a:pPr indent="0" marL="0">
              <a:buNone/>
            </a:pPr>
            <a:r>
              <a:t>Detect, document and report defects clearly so that issues can be understood and addressed.</a:t>
            </a:r>
            <a:endParaRPr lang="en-US" sz="1500" dirty="0"/>
          </a:p>
        </p:txBody>
      </p:sp>
      <p:sp>
        <p:nvSpPr>
          <p:cNvPr id="16" name="Text 13"/>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17" name="Text 1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Project Objectives</a:t>
            </a:r>
            <a:endParaRPr lang="en-US" sz="3200" dirty="0"/>
          </a:p>
        </p:txBody>
      </p:sp>
      <p:sp>
        <p:nvSpPr>
          <p:cNvPr id="3" name="Shape 1"/>
          <p:cNvSpPr/>
          <p:nvPr/>
        </p:nvSpPr>
        <p:spPr>
          <a:xfrm>
            <a:off x="9966960" y="411480"/>
            <a:ext cx="822960" cy="822960"/>
          </a:xfrm>
          <a:prstGeom prst="ellipse">
            <a:avLst/>
          </a:prstGeom>
          <a:solidFill>
            <a:srgbClr val="065A82"/>
          </a:solidFill>
          <a:ln/>
        </p:spPr>
        <p:txBody>
          <a:bodyPr/>
          <a:p/>
        </p:txBody>
      </p:sp>
      <p:pic>
        <p:nvPicPr>
          <p:cNvPr id="4" name="Image 0" descr="assets/icons/objectives.png">    </p:cNvPr>
          <p:cNvPicPr>
            <a:picLocks noChangeAspect="1"/>
          </p:cNvPicPr>
          <p:nvPr/>
        </p:nvPicPr>
        <p:blipFill>
          <a:blip r:embed="rId1"/>
          <a:stretch>
            <a:fillRect/>
          </a:stretch>
        </p:blipFill>
        <p:spPr>
          <a:xfrm>
            <a:off x="10180930" y="625450"/>
            <a:ext cx="395021" cy="395021"/>
          </a:xfrm>
          <a:prstGeom prst="rect">
            <a:avLst/>
          </a:prstGeom>
        </p:spPr>
      </p:pic>
      <p:sp>
        <p:nvSpPr>
          <p:cNvPr id="5" name="Shape 2"/>
          <p:cNvSpPr/>
          <p:nvPr/>
        </p:nvSpPr>
        <p:spPr>
          <a:xfrm>
            <a:off x="640080" y="155448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6" name="Shape 3"/>
          <p:cNvSpPr/>
          <p:nvPr/>
        </p:nvSpPr>
        <p:spPr>
          <a:xfrm>
            <a:off x="868680" y="2007108"/>
            <a:ext cx="512064" cy="512064"/>
          </a:xfrm>
          <a:prstGeom prst="roundRect">
            <a:avLst>
              <a:gd name="adj" fmla="val 50000"/>
            </a:avLst>
          </a:prstGeom>
          <a:solidFill>
            <a:srgbClr val="1C7293"/>
          </a:solidFill>
          <a:ln/>
        </p:spPr>
        <p:txBody>
          <a:bodyPr/>
          <a:p/>
        </p:txBody>
      </p:sp>
      <p:sp>
        <p:nvSpPr>
          <p:cNvPr id="7" name="Text 4"/>
          <p:cNvSpPr/>
          <p:nvPr/>
        </p:nvSpPr>
        <p:spPr>
          <a:xfrm>
            <a:off x="868680" y="2007108"/>
            <a:ext cx="512064" cy="512064"/>
          </a:xfrm>
          <a:prstGeom prst="rect">
            <a:avLst/>
          </a:prstGeom>
          <a:noFill/>
          <a:ln/>
        </p:spPr>
        <p:txBody>
          <a:bodyPr wrap="square" rtlCol="0" anchor="ctr"/>
          <a:lstStyle/>
          <a:p>
            <a:pPr algn="ctr" indent="0" marL="0">
              <a:buNone/>
            </a:pPr>
            <a:r>
              <a:t>1</a:t>
            </a:r>
            <a:endParaRPr lang="en-US" sz="1800" dirty="0"/>
          </a:p>
        </p:txBody>
      </p:sp>
      <p:sp>
        <p:nvSpPr>
          <p:cNvPr id="8" name="Text 5"/>
          <p:cNvSpPr/>
          <p:nvPr/>
        </p:nvSpPr>
        <p:spPr>
          <a:xfrm>
            <a:off x="1554480" y="1664208"/>
            <a:ext cx="4206240" cy="1197864"/>
          </a:xfrm>
          <a:prstGeom prst="rect">
            <a:avLst/>
          </a:prstGeom>
          <a:noFill/>
          <a:ln/>
        </p:spPr>
        <p:txBody>
          <a:bodyPr wrap="square" rtlCol="0" anchor="ctr"/>
          <a:lstStyle/>
          <a:p>
            <a:pPr indent="0" marL="0">
              <a:buNone/>
            </a:pPr>
            <a:r>
              <a:t>Understand the website requirements and expected user workflows</a:t>
            </a:r>
            <a:endParaRPr lang="en-US" sz="1350" dirty="0"/>
          </a:p>
        </p:txBody>
      </p:sp>
      <p:sp>
        <p:nvSpPr>
          <p:cNvPr id="9" name="Shape 6"/>
          <p:cNvSpPr/>
          <p:nvPr/>
        </p:nvSpPr>
        <p:spPr>
          <a:xfrm>
            <a:off x="6446520" y="155448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10" name="Shape 7"/>
          <p:cNvSpPr/>
          <p:nvPr/>
        </p:nvSpPr>
        <p:spPr>
          <a:xfrm>
            <a:off x="6675120" y="2007108"/>
            <a:ext cx="512064" cy="512064"/>
          </a:xfrm>
          <a:prstGeom prst="roundRect">
            <a:avLst>
              <a:gd name="adj" fmla="val 50000"/>
            </a:avLst>
          </a:prstGeom>
          <a:solidFill>
            <a:srgbClr val="1C7293"/>
          </a:solidFill>
          <a:ln/>
        </p:spPr>
        <p:txBody>
          <a:bodyPr/>
          <a:p/>
        </p:txBody>
      </p:sp>
      <p:sp>
        <p:nvSpPr>
          <p:cNvPr id="11" name="Text 8"/>
          <p:cNvSpPr/>
          <p:nvPr/>
        </p:nvSpPr>
        <p:spPr>
          <a:xfrm>
            <a:off x="6675120" y="2007108"/>
            <a:ext cx="512064" cy="512064"/>
          </a:xfrm>
          <a:prstGeom prst="rect">
            <a:avLst/>
          </a:prstGeom>
          <a:noFill/>
          <a:ln/>
        </p:spPr>
        <p:txBody>
          <a:bodyPr wrap="square" rtlCol="0" anchor="ctr"/>
          <a:lstStyle/>
          <a:p>
            <a:pPr algn="ctr" indent="0" marL="0">
              <a:buNone/>
            </a:pPr>
            <a:r>
              <a:t>2</a:t>
            </a:r>
            <a:endParaRPr lang="en-US" sz="1800" dirty="0"/>
          </a:p>
        </p:txBody>
      </p:sp>
      <p:sp>
        <p:nvSpPr>
          <p:cNvPr id="12" name="Text 9"/>
          <p:cNvSpPr/>
          <p:nvPr/>
        </p:nvSpPr>
        <p:spPr>
          <a:xfrm>
            <a:off x="7360920" y="1664208"/>
            <a:ext cx="4206240" cy="1197864"/>
          </a:xfrm>
          <a:prstGeom prst="rect">
            <a:avLst/>
          </a:prstGeom>
          <a:noFill/>
          <a:ln/>
        </p:spPr>
        <p:txBody>
          <a:bodyPr wrap="square" rtlCol="0" anchor="ctr"/>
          <a:lstStyle/>
          <a:p>
            <a:pPr indent="0" marL="0">
              <a:buNone/>
            </a:pPr>
            <a:r>
              <a:t>Create and execute structured test cases for important website functions</a:t>
            </a:r>
            <a:endParaRPr lang="en-US" sz="1350" dirty="0"/>
          </a:p>
        </p:txBody>
      </p:sp>
      <p:sp>
        <p:nvSpPr>
          <p:cNvPr id="13" name="Shape 10"/>
          <p:cNvSpPr/>
          <p:nvPr/>
        </p:nvSpPr>
        <p:spPr>
          <a:xfrm>
            <a:off x="640080" y="310896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14" name="Shape 11"/>
          <p:cNvSpPr/>
          <p:nvPr/>
        </p:nvSpPr>
        <p:spPr>
          <a:xfrm>
            <a:off x="868680" y="3561588"/>
            <a:ext cx="512064" cy="512064"/>
          </a:xfrm>
          <a:prstGeom prst="roundRect">
            <a:avLst>
              <a:gd name="adj" fmla="val 50000"/>
            </a:avLst>
          </a:prstGeom>
          <a:solidFill>
            <a:srgbClr val="1C7293"/>
          </a:solidFill>
          <a:ln/>
        </p:spPr>
        <p:txBody>
          <a:bodyPr/>
          <a:p/>
        </p:txBody>
      </p:sp>
      <p:sp>
        <p:nvSpPr>
          <p:cNvPr id="15" name="Text 12"/>
          <p:cNvSpPr/>
          <p:nvPr/>
        </p:nvSpPr>
        <p:spPr>
          <a:xfrm>
            <a:off x="868680" y="3561588"/>
            <a:ext cx="512064" cy="512064"/>
          </a:xfrm>
          <a:prstGeom prst="rect">
            <a:avLst/>
          </a:prstGeom>
          <a:noFill/>
          <a:ln/>
        </p:spPr>
        <p:txBody>
          <a:bodyPr wrap="square" rtlCol="0" anchor="ctr"/>
          <a:lstStyle/>
          <a:p>
            <a:pPr algn="ctr" indent="0" marL="0">
              <a:buNone/>
            </a:pPr>
            <a:r>
              <a:t>3</a:t>
            </a:r>
            <a:endParaRPr lang="en-US" sz="1800" dirty="0"/>
          </a:p>
        </p:txBody>
      </p:sp>
      <p:sp>
        <p:nvSpPr>
          <p:cNvPr id="16" name="Text 13"/>
          <p:cNvSpPr/>
          <p:nvPr/>
        </p:nvSpPr>
        <p:spPr>
          <a:xfrm>
            <a:off x="1554480" y="3218688"/>
            <a:ext cx="4206240" cy="1197864"/>
          </a:xfrm>
          <a:prstGeom prst="rect">
            <a:avLst/>
          </a:prstGeom>
          <a:noFill/>
          <a:ln/>
        </p:spPr>
        <p:txBody>
          <a:bodyPr wrap="square" rtlCol="0" anchor="ctr"/>
          <a:lstStyle/>
          <a:p>
            <a:pPr indent="0" marL="0">
              <a:buNone/>
            </a:pPr>
            <a:r>
              <a:t>Verify UI, navigation, responsiveness and overall user experience</a:t>
            </a:r>
            <a:endParaRPr lang="en-US" sz="1350" dirty="0"/>
          </a:p>
        </p:txBody>
      </p:sp>
      <p:sp>
        <p:nvSpPr>
          <p:cNvPr id="17" name="Shape 14"/>
          <p:cNvSpPr/>
          <p:nvPr/>
        </p:nvSpPr>
        <p:spPr>
          <a:xfrm>
            <a:off x="6446520" y="310896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18" name="Shape 15"/>
          <p:cNvSpPr/>
          <p:nvPr/>
        </p:nvSpPr>
        <p:spPr>
          <a:xfrm>
            <a:off x="6675120" y="3561588"/>
            <a:ext cx="512064" cy="512064"/>
          </a:xfrm>
          <a:prstGeom prst="roundRect">
            <a:avLst>
              <a:gd name="adj" fmla="val 50000"/>
            </a:avLst>
          </a:prstGeom>
          <a:solidFill>
            <a:srgbClr val="1C7293"/>
          </a:solidFill>
          <a:ln/>
        </p:spPr>
        <p:txBody>
          <a:bodyPr/>
          <a:p/>
        </p:txBody>
      </p:sp>
      <p:sp>
        <p:nvSpPr>
          <p:cNvPr id="19" name="Text 16"/>
          <p:cNvSpPr/>
          <p:nvPr/>
        </p:nvSpPr>
        <p:spPr>
          <a:xfrm>
            <a:off x="6675120" y="3561588"/>
            <a:ext cx="512064" cy="512064"/>
          </a:xfrm>
          <a:prstGeom prst="rect">
            <a:avLst/>
          </a:prstGeom>
          <a:noFill/>
          <a:ln/>
        </p:spPr>
        <p:txBody>
          <a:bodyPr wrap="square" rtlCol="0" anchor="ctr"/>
          <a:lstStyle/>
          <a:p>
            <a:pPr algn="ctr" indent="0" marL="0">
              <a:buNone/>
            </a:pPr>
            <a:r>
              <a:t>4</a:t>
            </a:r>
            <a:endParaRPr lang="en-US" sz="1800" dirty="0"/>
          </a:p>
        </p:txBody>
      </p:sp>
      <p:sp>
        <p:nvSpPr>
          <p:cNvPr id="20" name="Text 17"/>
          <p:cNvSpPr/>
          <p:nvPr/>
        </p:nvSpPr>
        <p:spPr>
          <a:xfrm>
            <a:off x="7360920" y="3218688"/>
            <a:ext cx="4206240" cy="1197864"/>
          </a:xfrm>
          <a:prstGeom prst="rect">
            <a:avLst/>
          </a:prstGeom>
          <a:noFill/>
          <a:ln/>
        </p:spPr>
        <p:txBody>
          <a:bodyPr wrap="square" rtlCol="0" anchor="ctr"/>
          <a:lstStyle/>
          <a:p>
            <a:pPr indent="0" marL="0">
              <a:buNone/>
            </a:pPr>
            <a:r>
              <a:t>Identify, document and report defects with clear reproduction details</a:t>
            </a:r>
            <a:endParaRPr lang="en-US" sz="1350" dirty="0"/>
          </a:p>
        </p:txBody>
      </p:sp>
      <p:sp>
        <p:nvSpPr>
          <p:cNvPr id="21" name="Shape 18"/>
          <p:cNvSpPr/>
          <p:nvPr/>
        </p:nvSpPr>
        <p:spPr>
          <a:xfrm>
            <a:off x="640080" y="466344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22" name="Shape 19"/>
          <p:cNvSpPr/>
          <p:nvPr/>
        </p:nvSpPr>
        <p:spPr>
          <a:xfrm>
            <a:off x="868680" y="5116068"/>
            <a:ext cx="512064" cy="512064"/>
          </a:xfrm>
          <a:prstGeom prst="roundRect">
            <a:avLst>
              <a:gd name="adj" fmla="val 50000"/>
            </a:avLst>
          </a:prstGeom>
          <a:solidFill>
            <a:srgbClr val="1C7293"/>
          </a:solidFill>
          <a:ln/>
        </p:spPr>
        <p:txBody>
          <a:bodyPr/>
          <a:p/>
        </p:txBody>
      </p:sp>
      <p:sp>
        <p:nvSpPr>
          <p:cNvPr id="23" name="Text 20"/>
          <p:cNvSpPr/>
          <p:nvPr/>
        </p:nvSpPr>
        <p:spPr>
          <a:xfrm>
            <a:off x="868680" y="5116068"/>
            <a:ext cx="512064" cy="512064"/>
          </a:xfrm>
          <a:prstGeom prst="rect">
            <a:avLst/>
          </a:prstGeom>
          <a:noFill/>
          <a:ln/>
        </p:spPr>
        <p:txBody>
          <a:bodyPr wrap="square" rtlCol="0" anchor="ctr"/>
          <a:lstStyle/>
          <a:p>
            <a:pPr algn="ctr" indent="0" marL="0">
              <a:buNone/>
            </a:pPr>
            <a:r>
              <a:t>5</a:t>
            </a:r>
            <a:endParaRPr lang="en-US" sz="1800" dirty="0"/>
          </a:p>
        </p:txBody>
      </p:sp>
      <p:sp>
        <p:nvSpPr>
          <p:cNvPr id="24" name="Text 21"/>
          <p:cNvSpPr/>
          <p:nvPr/>
        </p:nvSpPr>
        <p:spPr>
          <a:xfrm>
            <a:off x="1554480" y="4773168"/>
            <a:ext cx="4206240" cy="1197864"/>
          </a:xfrm>
          <a:prstGeom prst="rect">
            <a:avLst/>
          </a:prstGeom>
          <a:noFill/>
          <a:ln/>
        </p:spPr>
        <p:txBody>
          <a:bodyPr wrap="square" rtlCol="0" anchor="ctr"/>
          <a:lstStyle/>
          <a:p>
            <a:pPr indent="0" marL="0">
              <a:buNone/>
            </a:pPr>
            <a:r>
              <a:t>Perform regression testing after fixes to ensure existing features remain stable</a:t>
            </a:r>
            <a:endParaRPr lang="en-US" sz="1350" dirty="0"/>
          </a:p>
        </p:txBody>
      </p:sp>
      <p:sp>
        <p:nvSpPr>
          <p:cNvPr id="25" name="Shape 22"/>
          <p:cNvSpPr/>
          <p:nvPr/>
        </p:nvSpPr>
        <p:spPr>
          <a:xfrm>
            <a:off x="6446520" y="466344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26" name="Shape 23"/>
          <p:cNvSpPr/>
          <p:nvPr/>
        </p:nvSpPr>
        <p:spPr>
          <a:xfrm>
            <a:off x="6675120" y="5116068"/>
            <a:ext cx="512064" cy="512064"/>
          </a:xfrm>
          <a:prstGeom prst="roundRect">
            <a:avLst>
              <a:gd name="adj" fmla="val 50000"/>
            </a:avLst>
          </a:prstGeom>
          <a:solidFill>
            <a:srgbClr val="1C7293"/>
          </a:solidFill>
          <a:ln/>
        </p:spPr>
        <p:txBody>
          <a:bodyPr/>
          <a:p/>
        </p:txBody>
      </p:sp>
      <p:sp>
        <p:nvSpPr>
          <p:cNvPr id="27" name="Text 24"/>
          <p:cNvSpPr/>
          <p:nvPr/>
        </p:nvSpPr>
        <p:spPr>
          <a:xfrm>
            <a:off x="6675120" y="5116068"/>
            <a:ext cx="512064" cy="512064"/>
          </a:xfrm>
          <a:prstGeom prst="rect">
            <a:avLst/>
          </a:prstGeom>
          <a:noFill/>
          <a:ln/>
        </p:spPr>
        <p:txBody>
          <a:bodyPr wrap="square" rtlCol="0" anchor="ctr"/>
          <a:lstStyle/>
          <a:p>
            <a:pPr algn="ctr" indent="0" marL="0">
              <a:buNone/>
            </a:pPr>
            <a:r>
              <a:t>6</a:t>
            </a:r>
            <a:endParaRPr lang="en-US" sz="1800" dirty="0"/>
          </a:p>
        </p:txBody>
      </p:sp>
      <p:sp>
        <p:nvSpPr>
          <p:cNvPr id="28" name="Text 25"/>
          <p:cNvSpPr/>
          <p:nvPr/>
        </p:nvSpPr>
        <p:spPr>
          <a:xfrm>
            <a:off x="7360920" y="4773168"/>
            <a:ext cx="4206240" cy="1197864"/>
          </a:xfrm>
          <a:prstGeom prst="rect">
            <a:avLst/>
          </a:prstGeom>
          <a:noFill/>
          <a:ln/>
        </p:spPr>
        <p:txBody>
          <a:bodyPr wrap="square" rtlCol="0" anchor="ctr"/>
          <a:lstStyle/>
          <a:p>
            <a:pPr indent="0" marL="0">
              <a:buNone/>
            </a:pPr>
            <a:r>
              <a:t>Validate APIs and support overall quality assurance of the project</a:t>
            </a:r>
            <a:endParaRPr lang="en-US" sz="1350" dirty="0"/>
          </a:p>
        </p:txBody>
      </p:sp>
      <p:sp>
        <p:nvSpPr>
          <p:cNvPr id="29" name="Text 26"/>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30" name="Text 27"/>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241280" y="5029200"/>
            <a:ext cx="3200400" cy="3200400"/>
          </a:xfrm>
          <a:prstGeom prst="ellipse">
            <a:avLst/>
          </a:prstGeom>
          <a:solidFill>
            <a:srgbClr val="065A82">
              <a:alpha val="45000"/>
            </a:srgbClr>
          </a:solidFill>
          <a:ln/>
        </p:spPr>
        <p:txBody>
          <a:bodyPr/>
          <a:p/>
        </p:txBody>
      </p:sp>
      <p:sp>
        <p:nvSpPr>
          <p:cNvPr id="3" name="Text 1"/>
          <p:cNvSpPr/>
          <p:nvPr/>
        </p:nvSpPr>
        <p:spPr>
          <a:xfrm>
            <a:off x="548640" y="457200"/>
            <a:ext cx="9144000" cy="731520"/>
          </a:xfrm>
          <a:prstGeom prst="rect">
            <a:avLst/>
          </a:prstGeom>
          <a:noFill/>
          <a:ln/>
        </p:spPr>
        <p:txBody>
          <a:bodyPr wrap="square" rtlCol="0" anchor="ctr"/>
          <a:lstStyle/>
          <a:p>
            <a:pPr indent="0" marL="0">
              <a:buNone/>
            </a:pPr>
            <a:r>
              <a:t>Scope of the Internship</a:t>
            </a:r>
            <a:endParaRPr lang="en-US" sz="3200" dirty="0"/>
          </a:p>
        </p:txBody>
      </p:sp>
      <p:sp>
        <p:nvSpPr>
          <p:cNvPr id="4" name="Text 2"/>
          <p:cNvSpPr/>
          <p:nvPr/>
        </p:nvSpPr>
        <p:spPr>
          <a:xfrm>
            <a:off x="594360" y="1234440"/>
            <a:ext cx="10058400" cy="640080"/>
          </a:xfrm>
          <a:prstGeom prst="rect">
            <a:avLst/>
          </a:prstGeom>
          <a:noFill/>
          <a:ln/>
        </p:spPr>
        <p:txBody>
          <a:bodyPr wrap="square" rtlCol="0" anchor="ctr"/>
          <a:lstStyle/>
          <a:p>
            <a:pPr indent="0" marL="0">
              <a:buNone/>
            </a:pPr>
            <a:r>
              <a:t>The internship covered end-to-end web testing activities for the Nisha Kohlani Aesthetic Website, from planning test cases and checking user interfaces to defect reporting, regression testing and API validation.</a:t>
            </a:r>
            <a:endParaRPr lang="en-US" sz="1500" dirty="0"/>
          </a:p>
        </p:txBody>
      </p:sp>
      <p:sp>
        <p:nvSpPr>
          <p:cNvPr id="5" name="Shape 3"/>
          <p:cNvSpPr/>
          <p:nvPr/>
        </p:nvSpPr>
        <p:spPr>
          <a:xfrm>
            <a:off x="594360" y="2313432"/>
            <a:ext cx="128016" cy="128016"/>
          </a:xfrm>
          <a:prstGeom prst="roundRect">
            <a:avLst/>
          </a:prstGeom>
          <a:solidFill>
            <a:srgbClr val="9FD8E8"/>
          </a:solidFill>
          <a:ln/>
        </p:spPr>
        <p:txBody>
          <a:bodyPr/>
          <a:p/>
        </p:txBody>
      </p:sp>
      <p:sp>
        <p:nvSpPr>
          <p:cNvPr id="6" name="Text 4"/>
          <p:cNvSpPr/>
          <p:nvPr/>
        </p:nvSpPr>
        <p:spPr>
          <a:xfrm>
            <a:off x="914400" y="2148840"/>
            <a:ext cx="4937760" cy="914400"/>
          </a:xfrm>
          <a:prstGeom prst="rect">
            <a:avLst/>
          </a:prstGeom>
          <a:noFill/>
          <a:ln/>
        </p:spPr>
        <p:txBody>
          <a:bodyPr wrap="square" rtlCol="0" anchor="ctr"/>
          <a:lstStyle/>
          <a:p>
            <a:pPr indent="0" marL="0">
              <a:buNone/>
            </a:pPr>
            <a:r>
              <a:t>Functional testing of website features and workflows</a:t>
            </a:r>
            <a:endParaRPr lang="en-US" sz="1350" dirty="0"/>
          </a:p>
        </p:txBody>
      </p:sp>
      <p:sp>
        <p:nvSpPr>
          <p:cNvPr id="7" name="Shape 5"/>
          <p:cNvSpPr/>
          <p:nvPr/>
        </p:nvSpPr>
        <p:spPr>
          <a:xfrm>
            <a:off x="6217920" y="2313432"/>
            <a:ext cx="128016" cy="128016"/>
          </a:xfrm>
          <a:prstGeom prst="roundRect">
            <a:avLst/>
          </a:prstGeom>
          <a:solidFill>
            <a:srgbClr val="9FD8E8"/>
          </a:solidFill>
          <a:ln/>
        </p:spPr>
        <p:txBody>
          <a:bodyPr/>
          <a:p/>
        </p:txBody>
      </p:sp>
      <p:sp>
        <p:nvSpPr>
          <p:cNvPr id="8" name="Text 6"/>
          <p:cNvSpPr/>
          <p:nvPr/>
        </p:nvSpPr>
        <p:spPr>
          <a:xfrm>
            <a:off x="6537960" y="2148840"/>
            <a:ext cx="4937760" cy="914400"/>
          </a:xfrm>
          <a:prstGeom prst="rect">
            <a:avLst/>
          </a:prstGeom>
          <a:noFill/>
          <a:ln/>
        </p:spPr>
        <p:txBody>
          <a:bodyPr wrap="square" rtlCol="0" anchor="ctr"/>
          <a:lstStyle/>
          <a:p>
            <a:pPr indent="0" marL="0">
              <a:buNone/>
            </a:pPr>
            <a:r>
              <a:t>UI testing for layout, navigation, consistency and usability</a:t>
            </a:r>
            <a:endParaRPr lang="en-US" sz="1350" dirty="0"/>
          </a:p>
        </p:txBody>
      </p:sp>
      <p:sp>
        <p:nvSpPr>
          <p:cNvPr id="9" name="Shape 7"/>
          <p:cNvSpPr/>
          <p:nvPr/>
        </p:nvSpPr>
        <p:spPr>
          <a:xfrm>
            <a:off x="594360" y="3410712"/>
            <a:ext cx="128016" cy="128016"/>
          </a:xfrm>
          <a:prstGeom prst="roundRect">
            <a:avLst/>
          </a:prstGeom>
          <a:solidFill>
            <a:srgbClr val="9FD8E8"/>
          </a:solidFill>
          <a:ln/>
        </p:spPr>
        <p:txBody>
          <a:bodyPr/>
          <a:p/>
        </p:txBody>
      </p:sp>
      <p:sp>
        <p:nvSpPr>
          <p:cNvPr id="10" name="Text 8"/>
          <p:cNvSpPr/>
          <p:nvPr/>
        </p:nvSpPr>
        <p:spPr>
          <a:xfrm>
            <a:off x="914400" y="3246120"/>
            <a:ext cx="4937760" cy="914400"/>
          </a:xfrm>
          <a:prstGeom prst="rect">
            <a:avLst/>
          </a:prstGeom>
          <a:noFill/>
          <a:ln/>
        </p:spPr>
        <p:txBody>
          <a:bodyPr wrap="square" rtlCol="0" anchor="ctr"/>
          <a:lstStyle/>
          <a:p>
            <a:pPr indent="0" marL="0">
              <a:buNone/>
            </a:pPr>
            <a:r>
              <a:t>Test-case creation, execution and result documentation</a:t>
            </a:r>
            <a:endParaRPr lang="en-US" sz="1350" dirty="0"/>
          </a:p>
        </p:txBody>
      </p:sp>
      <p:sp>
        <p:nvSpPr>
          <p:cNvPr id="11" name="Shape 9"/>
          <p:cNvSpPr/>
          <p:nvPr/>
        </p:nvSpPr>
        <p:spPr>
          <a:xfrm>
            <a:off x="6217920" y="3410712"/>
            <a:ext cx="128016" cy="128016"/>
          </a:xfrm>
          <a:prstGeom prst="roundRect">
            <a:avLst/>
          </a:prstGeom>
          <a:solidFill>
            <a:srgbClr val="9FD8E8"/>
          </a:solidFill>
          <a:ln/>
        </p:spPr>
        <p:txBody>
          <a:bodyPr/>
          <a:p/>
        </p:txBody>
      </p:sp>
      <p:sp>
        <p:nvSpPr>
          <p:cNvPr id="12" name="Text 10"/>
          <p:cNvSpPr/>
          <p:nvPr/>
        </p:nvSpPr>
        <p:spPr>
          <a:xfrm>
            <a:off x="6537960" y="3246120"/>
            <a:ext cx="4937760" cy="914400"/>
          </a:xfrm>
          <a:prstGeom prst="rect">
            <a:avLst/>
          </a:prstGeom>
          <a:noFill/>
          <a:ln/>
        </p:spPr>
        <p:txBody>
          <a:bodyPr wrap="square" rtlCol="0" anchor="ctr"/>
          <a:lstStyle/>
          <a:p>
            <a:pPr indent="0" marL="0">
              <a:buNone/>
            </a:pPr>
            <a:r>
              <a:t>Bug identification, defect tracking and clear reporting</a:t>
            </a:r>
            <a:endParaRPr lang="en-US" sz="1350" dirty="0"/>
          </a:p>
        </p:txBody>
      </p:sp>
      <p:sp>
        <p:nvSpPr>
          <p:cNvPr id="13" name="Shape 11"/>
          <p:cNvSpPr/>
          <p:nvPr/>
        </p:nvSpPr>
        <p:spPr>
          <a:xfrm>
            <a:off x="594360" y="4507992"/>
            <a:ext cx="128016" cy="128016"/>
          </a:xfrm>
          <a:prstGeom prst="roundRect">
            <a:avLst/>
          </a:prstGeom>
          <a:solidFill>
            <a:srgbClr val="9FD8E8"/>
          </a:solidFill>
          <a:ln/>
        </p:spPr>
        <p:txBody>
          <a:bodyPr/>
          <a:p/>
        </p:txBody>
      </p:sp>
      <p:sp>
        <p:nvSpPr>
          <p:cNvPr id="14" name="Text 12"/>
          <p:cNvSpPr/>
          <p:nvPr/>
        </p:nvSpPr>
        <p:spPr>
          <a:xfrm>
            <a:off x="914400" y="4343400"/>
            <a:ext cx="4937760" cy="914400"/>
          </a:xfrm>
          <a:prstGeom prst="rect">
            <a:avLst/>
          </a:prstGeom>
          <a:noFill/>
          <a:ln/>
        </p:spPr>
        <p:txBody>
          <a:bodyPr wrap="square" rtlCol="0" anchor="ctr"/>
          <a:lstStyle/>
          <a:p>
            <a:pPr indent="0" marL="0">
              <a:buNone/>
            </a:pPr>
            <a:r>
              <a:t>Regression testing after changes and fixes</a:t>
            </a:r>
            <a:endParaRPr lang="en-US" sz="1350" dirty="0"/>
          </a:p>
        </p:txBody>
      </p:sp>
      <p:sp>
        <p:nvSpPr>
          <p:cNvPr id="15" name="Shape 13"/>
          <p:cNvSpPr/>
          <p:nvPr/>
        </p:nvSpPr>
        <p:spPr>
          <a:xfrm>
            <a:off x="6217920" y="4507992"/>
            <a:ext cx="128016" cy="128016"/>
          </a:xfrm>
          <a:prstGeom prst="roundRect">
            <a:avLst/>
          </a:prstGeom>
          <a:solidFill>
            <a:srgbClr val="9FD8E8"/>
          </a:solidFill>
          <a:ln/>
        </p:spPr>
        <p:txBody>
          <a:bodyPr/>
          <a:p/>
        </p:txBody>
      </p:sp>
      <p:sp>
        <p:nvSpPr>
          <p:cNvPr id="16" name="Text 14"/>
          <p:cNvSpPr/>
          <p:nvPr/>
        </p:nvSpPr>
        <p:spPr>
          <a:xfrm>
            <a:off x="6537960" y="4343400"/>
            <a:ext cx="4937760" cy="914400"/>
          </a:xfrm>
          <a:prstGeom prst="rect">
            <a:avLst/>
          </a:prstGeom>
          <a:noFill/>
          <a:ln/>
        </p:spPr>
        <p:txBody>
          <a:bodyPr wrap="square" rtlCol="0" anchor="ctr"/>
          <a:lstStyle/>
          <a:p>
            <a:pPr indent="0" marL="0">
              <a:buNone/>
            </a:pPr>
            <a:r>
              <a:t>API testing and validation of application responses</a:t>
            </a:r>
            <a:endParaRPr lang="en-US" sz="1350" dirty="0"/>
          </a:p>
        </p:txBody>
      </p:sp>
      <p:sp>
        <p:nvSpPr>
          <p:cNvPr id="17" name="Text 15"/>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18" name="Text 16"/>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Technologies &amp; Testing Concepts Used</a:t>
            </a:r>
            <a:endParaRPr lang="en-US" sz="3200" dirty="0"/>
          </a:p>
        </p:txBody>
      </p:sp>
      <p:sp>
        <p:nvSpPr>
          <p:cNvPr id="3" name="Shape 1"/>
          <p:cNvSpPr/>
          <p:nvPr/>
        </p:nvSpPr>
        <p:spPr>
          <a:xfrm>
            <a:off x="640080" y="1737360"/>
            <a:ext cx="2606040" cy="34747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4" name="Shape 2"/>
          <p:cNvSpPr/>
          <p:nvPr/>
        </p:nvSpPr>
        <p:spPr>
          <a:xfrm>
            <a:off x="1531620" y="2057400"/>
            <a:ext cx="822960" cy="822960"/>
          </a:xfrm>
          <a:prstGeom prst="ellipse">
            <a:avLst/>
          </a:prstGeom>
          <a:solidFill>
            <a:srgbClr val="065A82"/>
          </a:solidFill>
          <a:ln/>
        </p:spPr>
        <p:txBody>
          <a:bodyPr/>
          <a:p/>
        </p:txBody>
      </p:sp>
      <p:pic>
        <p:nvPicPr>
          <p:cNvPr id="5" name="Image 0" descr="assets/icons/frame.png">    </p:cNvPr>
          <p:cNvPicPr>
            <a:picLocks noChangeAspect="1"/>
          </p:cNvPicPr>
          <p:nvPr/>
        </p:nvPicPr>
        <p:blipFill>
          <a:blip r:embed="rId1"/>
          <a:stretch>
            <a:fillRect/>
          </a:stretch>
        </p:blipFill>
        <p:spPr>
          <a:xfrm>
            <a:off x="1745590" y="2271370"/>
            <a:ext cx="395021" cy="395021"/>
          </a:xfrm>
          <a:prstGeom prst="rect">
            <a:avLst/>
          </a:prstGeom>
        </p:spPr>
      </p:pic>
      <p:sp>
        <p:nvSpPr>
          <p:cNvPr id="6" name="Text 3"/>
          <p:cNvSpPr/>
          <p:nvPr/>
        </p:nvSpPr>
        <p:spPr>
          <a:xfrm>
            <a:off x="822960" y="3108960"/>
            <a:ext cx="2240280" cy="685800"/>
          </a:xfrm>
          <a:prstGeom prst="rect">
            <a:avLst/>
          </a:prstGeom>
          <a:noFill/>
          <a:ln/>
        </p:spPr>
        <p:txBody>
          <a:bodyPr wrap="square" rtlCol="0" anchor="t"/>
          <a:lstStyle/>
          <a:p>
            <a:pPr algn="ctr" indent="0" marL="0">
              <a:buNone/>
            </a:pPr>
            <a:r>
              <a:t>Functional Testing</a:t>
            </a:r>
            <a:endParaRPr lang="en-US" sz="1400" dirty="0"/>
          </a:p>
        </p:txBody>
      </p:sp>
      <p:sp>
        <p:nvSpPr>
          <p:cNvPr id="7" name="Text 4"/>
          <p:cNvSpPr/>
          <p:nvPr/>
        </p:nvSpPr>
        <p:spPr>
          <a:xfrm>
            <a:off x="868680" y="3794760"/>
            <a:ext cx="2148840" cy="1280160"/>
          </a:xfrm>
          <a:prstGeom prst="rect">
            <a:avLst/>
          </a:prstGeom>
          <a:noFill/>
          <a:ln/>
        </p:spPr>
        <p:txBody>
          <a:bodyPr wrap="square" rtlCol="0" anchor="t"/>
          <a:lstStyle/>
          <a:p>
            <a:pPr algn="ctr" indent="0" marL="0">
              <a:buNone/>
            </a:pPr>
            <a:r>
              <a:t>Verified whether website features and user workflows performed according to expected requirements.</a:t>
            </a:r>
            <a:endParaRPr lang="en-US" sz="1150" dirty="0"/>
          </a:p>
        </p:txBody>
      </p:sp>
      <p:sp>
        <p:nvSpPr>
          <p:cNvPr id="8" name="Shape 5"/>
          <p:cNvSpPr/>
          <p:nvPr/>
        </p:nvSpPr>
        <p:spPr>
          <a:xfrm>
            <a:off x="3502152" y="1737360"/>
            <a:ext cx="2606040" cy="34747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9" name="Shape 6"/>
          <p:cNvSpPr/>
          <p:nvPr/>
        </p:nvSpPr>
        <p:spPr>
          <a:xfrm>
            <a:off x="4393692" y="2057400"/>
            <a:ext cx="822960" cy="822960"/>
          </a:xfrm>
          <a:prstGeom prst="ellipse">
            <a:avLst/>
          </a:prstGeom>
          <a:solidFill>
            <a:srgbClr val="1C7293"/>
          </a:solidFill>
          <a:ln/>
        </p:spPr>
        <p:txBody>
          <a:bodyPr/>
          <a:p/>
        </p:txBody>
      </p:sp>
      <p:pic>
        <p:nvPicPr>
          <p:cNvPr id="10" name="Image 1" descr="assets/icons/choose.png">    </p:cNvPr>
          <p:cNvPicPr>
            <a:picLocks noChangeAspect="1"/>
          </p:cNvPicPr>
          <p:nvPr/>
        </p:nvPicPr>
        <p:blipFill>
          <a:blip r:embed="rId2"/>
          <a:stretch>
            <a:fillRect/>
          </a:stretch>
        </p:blipFill>
        <p:spPr>
          <a:xfrm>
            <a:off x="4607662" y="2271370"/>
            <a:ext cx="395021" cy="395021"/>
          </a:xfrm>
          <a:prstGeom prst="rect">
            <a:avLst/>
          </a:prstGeom>
        </p:spPr>
      </p:pic>
      <p:sp>
        <p:nvSpPr>
          <p:cNvPr id="11" name="Text 7"/>
          <p:cNvSpPr/>
          <p:nvPr/>
        </p:nvSpPr>
        <p:spPr>
          <a:xfrm>
            <a:off x="3685032" y="3108960"/>
            <a:ext cx="2240280" cy="685800"/>
          </a:xfrm>
          <a:prstGeom prst="rect">
            <a:avLst/>
          </a:prstGeom>
          <a:noFill/>
          <a:ln/>
        </p:spPr>
        <p:txBody>
          <a:bodyPr wrap="square" rtlCol="0" anchor="t"/>
          <a:lstStyle/>
          <a:p>
            <a:pPr algn="ctr" indent="0" marL="0">
              <a:buNone/>
            </a:pPr>
            <a:r>
              <a:t>UI / UX Testing</a:t>
            </a:r>
            <a:endParaRPr lang="en-US" sz="1400" dirty="0"/>
          </a:p>
        </p:txBody>
      </p:sp>
      <p:sp>
        <p:nvSpPr>
          <p:cNvPr id="12" name="Text 8"/>
          <p:cNvSpPr/>
          <p:nvPr/>
        </p:nvSpPr>
        <p:spPr>
          <a:xfrm>
            <a:off x="3730752" y="3794760"/>
            <a:ext cx="2148840" cy="1280160"/>
          </a:xfrm>
          <a:prstGeom prst="rect">
            <a:avLst/>
          </a:prstGeom>
          <a:noFill/>
          <a:ln/>
        </p:spPr>
        <p:txBody>
          <a:bodyPr wrap="square" rtlCol="0" anchor="t"/>
          <a:lstStyle/>
          <a:p>
            <a:pPr algn="ctr" indent="0" marL="0">
              <a:buNone/>
            </a:pPr>
            <a:r>
              <a:t>Checked visual consistency, navigation, usability, responsiveness and user-facing behaviour.</a:t>
            </a:r>
            <a:endParaRPr lang="en-US" sz="1150" dirty="0"/>
          </a:p>
        </p:txBody>
      </p:sp>
      <p:sp>
        <p:nvSpPr>
          <p:cNvPr id="13" name="Shape 9"/>
          <p:cNvSpPr/>
          <p:nvPr/>
        </p:nvSpPr>
        <p:spPr>
          <a:xfrm>
            <a:off x="6364224" y="1737360"/>
            <a:ext cx="2606040" cy="34747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4" name="Shape 10"/>
          <p:cNvSpPr/>
          <p:nvPr/>
        </p:nvSpPr>
        <p:spPr>
          <a:xfrm>
            <a:off x="7255764" y="2057400"/>
            <a:ext cx="822960" cy="822960"/>
          </a:xfrm>
          <a:prstGeom prst="ellipse">
            <a:avLst/>
          </a:prstGeom>
          <a:solidFill>
            <a:srgbClr val="21295C"/>
          </a:solidFill>
          <a:ln/>
        </p:spPr>
        <p:txBody>
          <a:bodyPr/>
          <a:p/>
        </p:txBody>
      </p:sp>
      <p:pic>
        <p:nvPicPr>
          <p:cNvPr id="15" name="Image 2" descr="assets/icons/create.png">    </p:cNvPr>
          <p:cNvPicPr>
            <a:picLocks noChangeAspect="1"/>
          </p:cNvPicPr>
          <p:nvPr/>
        </p:nvPicPr>
        <p:blipFill>
          <a:blip r:embed="rId3"/>
          <a:stretch>
            <a:fillRect/>
          </a:stretch>
        </p:blipFill>
        <p:spPr>
          <a:xfrm>
            <a:off x="7469734" y="2271370"/>
            <a:ext cx="395021" cy="395021"/>
          </a:xfrm>
          <a:prstGeom prst="rect">
            <a:avLst/>
          </a:prstGeom>
        </p:spPr>
      </p:pic>
      <p:sp>
        <p:nvSpPr>
          <p:cNvPr id="16" name="Text 11"/>
          <p:cNvSpPr/>
          <p:nvPr/>
        </p:nvSpPr>
        <p:spPr>
          <a:xfrm>
            <a:off x="6547104" y="3108960"/>
            <a:ext cx="2240280" cy="685800"/>
          </a:xfrm>
          <a:prstGeom prst="rect">
            <a:avLst/>
          </a:prstGeom>
          <a:noFill/>
          <a:ln/>
        </p:spPr>
        <p:txBody>
          <a:bodyPr wrap="square" rtlCol="0" anchor="t"/>
          <a:lstStyle/>
          <a:p>
            <a:pPr algn="ctr" indent="0" marL="0">
              <a:buNone/>
            </a:pPr>
            <a:r>
              <a:t>Test Cases &amp; Defect Tracking</a:t>
            </a:r>
            <a:endParaRPr lang="en-US" sz="1400" dirty="0"/>
          </a:p>
        </p:txBody>
      </p:sp>
      <p:sp>
        <p:nvSpPr>
          <p:cNvPr id="17" name="Text 12"/>
          <p:cNvSpPr/>
          <p:nvPr/>
        </p:nvSpPr>
        <p:spPr>
          <a:xfrm>
            <a:off x="6592824" y="3794760"/>
            <a:ext cx="2148840" cy="1280160"/>
          </a:xfrm>
          <a:prstGeom prst="rect">
            <a:avLst/>
          </a:prstGeom>
          <a:noFill/>
          <a:ln/>
        </p:spPr>
        <p:txBody>
          <a:bodyPr wrap="square" rtlCol="0" anchor="t"/>
          <a:lstStyle/>
          <a:p>
            <a:pPr algn="ctr" indent="0" marL="0">
              <a:buNone/>
            </a:pPr>
            <a:r>
              <a:t>Created test cases, executed them systematically, recorded results and documented defects.</a:t>
            </a:r>
            <a:endParaRPr lang="en-US" sz="1150" dirty="0"/>
          </a:p>
        </p:txBody>
      </p:sp>
      <p:sp>
        <p:nvSpPr>
          <p:cNvPr id="18" name="Shape 13"/>
          <p:cNvSpPr/>
          <p:nvPr/>
        </p:nvSpPr>
        <p:spPr>
          <a:xfrm>
            <a:off x="9226296" y="1737360"/>
            <a:ext cx="2606040" cy="34747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9" name="Shape 14"/>
          <p:cNvSpPr/>
          <p:nvPr/>
        </p:nvSpPr>
        <p:spPr>
          <a:xfrm>
            <a:off x="10117836" y="2057400"/>
            <a:ext cx="822960" cy="822960"/>
          </a:xfrm>
          <a:prstGeom prst="ellipse">
            <a:avLst/>
          </a:prstGeom>
          <a:solidFill>
            <a:srgbClr val="3A6EA5"/>
          </a:solidFill>
          <a:ln/>
        </p:spPr>
        <p:txBody>
          <a:bodyPr/>
          <a:p/>
        </p:txBody>
      </p:sp>
      <p:pic>
        <p:nvPicPr>
          <p:cNvPr id="20" name="Image 3" descr="assets/icons/communicate.png">    </p:cNvPr>
          <p:cNvPicPr>
            <a:picLocks noChangeAspect="1"/>
          </p:cNvPicPr>
          <p:nvPr/>
        </p:nvPicPr>
        <p:blipFill>
          <a:blip r:embed="rId4"/>
          <a:stretch>
            <a:fillRect/>
          </a:stretch>
        </p:blipFill>
        <p:spPr>
          <a:xfrm>
            <a:off x="10331806" y="2271370"/>
            <a:ext cx="395021" cy="395021"/>
          </a:xfrm>
          <a:prstGeom prst="rect">
            <a:avLst/>
          </a:prstGeom>
        </p:spPr>
      </p:pic>
      <p:sp>
        <p:nvSpPr>
          <p:cNvPr id="21" name="Text 15"/>
          <p:cNvSpPr/>
          <p:nvPr/>
        </p:nvSpPr>
        <p:spPr>
          <a:xfrm>
            <a:off x="9409176" y="3108960"/>
            <a:ext cx="2240280" cy="685800"/>
          </a:xfrm>
          <a:prstGeom prst="rect">
            <a:avLst/>
          </a:prstGeom>
          <a:noFill/>
          <a:ln/>
        </p:spPr>
        <p:txBody>
          <a:bodyPr wrap="square" rtlCol="0" anchor="t"/>
          <a:lstStyle/>
          <a:p>
            <a:pPr algn="ctr" indent="0" marL="0">
              <a:buNone/>
            </a:pPr>
            <a:r>
              <a:t>Regression &amp; API Testing</a:t>
            </a:r>
            <a:endParaRPr lang="en-US" sz="1400" dirty="0"/>
          </a:p>
        </p:txBody>
      </p:sp>
      <p:sp>
        <p:nvSpPr>
          <p:cNvPr id="22" name="Text 16"/>
          <p:cNvSpPr/>
          <p:nvPr/>
        </p:nvSpPr>
        <p:spPr>
          <a:xfrm>
            <a:off x="9454896" y="3794760"/>
            <a:ext cx="2148840" cy="1280160"/>
          </a:xfrm>
          <a:prstGeom prst="rect">
            <a:avLst/>
          </a:prstGeom>
          <a:noFill/>
          <a:ln/>
        </p:spPr>
        <p:txBody>
          <a:bodyPr wrap="square" rtlCol="0" anchor="t"/>
          <a:lstStyle/>
          <a:p>
            <a:pPr algn="ctr" indent="0" marL="0">
              <a:buNone/>
            </a:pPr>
            <a:r>
              <a:t>Retested corrected areas and validated APIs to ensure changes did not introduce new issues.</a:t>
            </a:r>
            <a:endParaRPr lang="en-US" sz="1150" dirty="0"/>
          </a:p>
        </p:txBody>
      </p:sp>
      <p:sp>
        <p:nvSpPr>
          <p:cNvPr id="23" name="Text 17"/>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4" name="Text 18"/>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Testing Process Flow</a:t>
            </a:r>
            <a:endParaRPr lang="en-US" sz="3200" dirty="0"/>
          </a:p>
        </p:txBody>
      </p:sp>
      <p:sp>
        <p:nvSpPr>
          <p:cNvPr id="3" name="Text 1"/>
          <p:cNvSpPr/>
          <p:nvPr/>
        </p:nvSpPr>
        <p:spPr>
          <a:xfrm>
            <a:off x="548640" y="1051560"/>
            <a:ext cx="10058400" cy="365760"/>
          </a:xfrm>
          <a:prstGeom prst="rect">
            <a:avLst/>
          </a:prstGeom>
          <a:noFill/>
          <a:ln/>
        </p:spPr>
        <p:txBody>
          <a:bodyPr wrap="square" rtlCol="0" anchor="ctr"/>
          <a:lstStyle/>
          <a:p>
            <a:pPr indent="0" marL="0">
              <a:buNone/>
            </a:pPr>
            <a:r>
              <a:t>From understanding requirements to delivering a more reliable and user-ready website</a:t>
            </a:r>
            <a:endParaRPr lang="en-US" sz="1400" dirty="0"/>
          </a:p>
        </p:txBody>
      </p:sp>
      <p:sp>
        <p:nvSpPr>
          <p:cNvPr id="4" name="Shape 2"/>
          <p:cNvSpPr/>
          <p:nvPr/>
        </p:nvSpPr>
        <p:spPr>
          <a:xfrm>
            <a:off x="59436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5" name="Text 3"/>
          <p:cNvSpPr/>
          <p:nvPr/>
        </p:nvSpPr>
        <p:spPr>
          <a:xfrm>
            <a:off x="704088" y="2816352"/>
            <a:ext cx="457200" cy="365760"/>
          </a:xfrm>
          <a:prstGeom prst="rect">
            <a:avLst/>
          </a:prstGeom>
          <a:noFill/>
          <a:ln/>
        </p:spPr>
        <p:txBody>
          <a:bodyPr wrap="square" rtlCol="0" anchor="ctr"/>
          <a:lstStyle/>
          <a:p>
            <a:pPr indent="0" marL="0">
              <a:buNone/>
            </a:pPr>
            <a:r>
              <a:t>1</a:t>
            </a:r>
            <a:endParaRPr lang="en-US" sz="1300" dirty="0"/>
          </a:p>
        </p:txBody>
      </p:sp>
      <p:sp>
        <p:nvSpPr>
          <p:cNvPr id="6" name="Text 4"/>
          <p:cNvSpPr/>
          <p:nvPr/>
        </p:nvSpPr>
        <p:spPr>
          <a:xfrm>
            <a:off x="685800" y="3063240"/>
            <a:ext cx="1737360" cy="914400"/>
          </a:xfrm>
          <a:prstGeom prst="rect">
            <a:avLst/>
          </a:prstGeom>
          <a:noFill/>
          <a:ln/>
        </p:spPr>
        <p:txBody>
          <a:bodyPr wrap="square" rtlCol="0" anchor="ctr"/>
          <a:lstStyle/>
          <a:p>
            <a:pPr algn="ctr" indent="0" marL="0">
              <a:buNone/>
            </a:pPr>
            <a:r>
              <a:t>Understand
Requirements</a:t>
            </a:r>
            <a:endParaRPr lang="en-US" sz="1300" dirty="0"/>
          </a:p>
        </p:txBody>
      </p:sp>
      <p:sp>
        <p:nvSpPr>
          <p:cNvPr id="7" name="Shape 5"/>
          <p:cNvSpPr/>
          <p:nvPr/>
        </p:nvSpPr>
        <p:spPr>
          <a:xfrm>
            <a:off x="2514600" y="3319272"/>
            <a:ext cx="342900" cy="219456"/>
          </a:xfrm>
          <a:prstGeom prst="rightArrow">
            <a:avLst/>
          </a:prstGeom>
          <a:solidFill>
            <a:srgbClr val="1C7293"/>
          </a:solidFill>
          <a:ln/>
        </p:spPr>
        <p:txBody>
          <a:bodyPr/>
          <a:p/>
        </p:txBody>
      </p:sp>
      <p:sp>
        <p:nvSpPr>
          <p:cNvPr id="8" name="Shape 6"/>
          <p:cNvSpPr/>
          <p:nvPr/>
        </p:nvSpPr>
        <p:spPr>
          <a:xfrm>
            <a:off x="285750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9" name="Text 7"/>
          <p:cNvSpPr/>
          <p:nvPr/>
        </p:nvSpPr>
        <p:spPr>
          <a:xfrm>
            <a:off x="2967228" y="2816352"/>
            <a:ext cx="457200" cy="365760"/>
          </a:xfrm>
          <a:prstGeom prst="rect">
            <a:avLst/>
          </a:prstGeom>
          <a:noFill/>
          <a:ln/>
        </p:spPr>
        <p:txBody>
          <a:bodyPr wrap="square" rtlCol="0" anchor="ctr"/>
          <a:lstStyle/>
          <a:p>
            <a:pPr indent="0" marL="0">
              <a:buNone/>
            </a:pPr>
            <a:r>
              <a:t>2</a:t>
            </a:r>
            <a:endParaRPr lang="en-US" sz="1300" dirty="0"/>
          </a:p>
        </p:txBody>
      </p:sp>
      <p:sp>
        <p:nvSpPr>
          <p:cNvPr id="10" name="Text 8"/>
          <p:cNvSpPr/>
          <p:nvPr/>
        </p:nvSpPr>
        <p:spPr>
          <a:xfrm>
            <a:off x="2948940" y="3063240"/>
            <a:ext cx="1737360" cy="914400"/>
          </a:xfrm>
          <a:prstGeom prst="rect">
            <a:avLst/>
          </a:prstGeom>
          <a:noFill/>
          <a:ln/>
        </p:spPr>
        <p:txBody>
          <a:bodyPr wrap="square" rtlCol="0" anchor="ctr"/>
          <a:lstStyle/>
          <a:p>
            <a:pPr algn="ctr" indent="0" marL="0">
              <a:buNone/>
            </a:pPr>
            <a:r>
              <a:t>Plan &amp; Create
Test Cases</a:t>
            </a:r>
            <a:endParaRPr lang="en-US" sz="1300" dirty="0"/>
          </a:p>
        </p:txBody>
      </p:sp>
      <p:sp>
        <p:nvSpPr>
          <p:cNvPr id="11" name="Shape 9"/>
          <p:cNvSpPr/>
          <p:nvPr/>
        </p:nvSpPr>
        <p:spPr>
          <a:xfrm>
            <a:off x="4777740" y="3319272"/>
            <a:ext cx="342900" cy="219456"/>
          </a:xfrm>
          <a:prstGeom prst="rightArrow">
            <a:avLst/>
          </a:prstGeom>
          <a:solidFill>
            <a:srgbClr val="1C7293"/>
          </a:solidFill>
          <a:ln/>
        </p:spPr>
        <p:txBody>
          <a:bodyPr/>
          <a:p/>
        </p:txBody>
      </p:sp>
      <p:sp>
        <p:nvSpPr>
          <p:cNvPr id="12" name="Shape 10"/>
          <p:cNvSpPr/>
          <p:nvPr/>
        </p:nvSpPr>
        <p:spPr>
          <a:xfrm>
            <a:off x="512064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13" name="Text 11"/>
          <p:cNvSpPr/>
          <p:nvPr/>
        </p:nvSpPr>
        <p:spPr>
          <a:xfrm>
            <a:off x="5230368" y="2816352"/>
            <a:ext cx="457200" cy="365760"/>
          </a:xfrm>
          <a:prstGeom prst="rect">
            <a:avLst/>
          </a:prstGeom>
          <a:noFill/>
          <a:ln/>
        </p:spPr>
        <p:txBody>
          <a:bodyPr wrap="square" rtlCol="0" anchor="ctr"/>
          <a:lstStyle/>
          <a:p>
            <a:pPr indent="0" marL="0">
              <a:buNone/>
            </a:pPr>
            <a:r>
              <a:t>3</a:t>
            </a:r>
            <a:endParaRPr lang="en-US" sz="1300" dirty="0"/>
          </a:p>
        </p:txBody>
      </p:sp>
      <p:sp>
        <p:nvSpPr>
          <p:cNvPr id="14" name="Text 12"/>
          <p:cNvSpPr/>
          <p:nvPr/>
        </p:nvSpPr>
        <p:spPr>
          <a:xfrm>
            <a:off x="5212080" y="3063240"/>
            <a:ext cx="1737360" cy="914400"/>
          </a:xfrm>
          <a:prstGeom prst="rect">
            <a:avLst/>
          </a:prstGeom>
          <a:noFill/>
          <a:ln/>
        </p:spPr>
        <p:txBody>
          <a:bodyPr wrap="square" rtlCol="0" anchor="ctr"/>
          <a:lstStyle/>
          <a:p>
            <a:pPr algn="ctr" indent="0" marL="0">
              <a:buNone/>
            </a:pPr>
            <a:r>
              <a:t>Execute Tests
&amp; Record Results</a:t>
            </a:r>
            <a:endParaRPr lang="en-US" sz="1300" dirty="0"/>
          </a:p>
        </p:txBody>
      </p:sp>
      <p:sp>
        <p:nvSpPr>
          <p:cNvPr id="15" name="Shape 13"/>
          <p:cNvSpPr/>
          <p:nvPr/>
        </p:nvSpPr>
        <p:spPr>
          <a:xfrm>
            <a:off x="7040880" y="3319272"/>
            <a:ext cx="342900" cy="219456"/>
          </a:xfrm>
          <a:prstGeom prst="rightArrow">
            <a:avLst/>
          </a:prstGeom>
          <a:solidFill>
            <a:srgbClr val="1C7293"/>
          </a:solidFill>
          <a:ln/>
        </p:spPr>
        <p:txBody>
          <a:bodyPr/>
          <a:p/>
        </p:txBody>
      </p:sp>
      <p:sp>
        <p:nvSpPr>
          <p:cNvPr id="16" name="Shape 14"/>
          <p:cNvSpPr/>
          <p:nvPr/>
        </p:nvSpPr>
        <p:spPr>
          <a:xfrm>
            <a:off x="738378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17" name="Text 15"/>
          <p:cNvSpPr/>
          <p:nvPr/>
        </p:nvSpPr>
        <p:spPr>
          <a:xfrm>
            <a:off x="7493508" y="2816352"/>
            <a:ext cx="457200" cy="365760"/>
          </a:xfrm>
          <a:prstGeom prst="rect">
            <a:avLst/>
          </a:prstGeom>
          <a:noFill/>
          <a:ln/>
        </p:spPr>
        <p:txBody>
          <a:bodyPr wrap="square" rtlCol="0" anchor="ctr"/>
          <a:lstStyle/>
          <a:p>
            <a:pPr indent="0" marL="0">
              <a:buNone/>
            </a:pPr>
            <a:r>
              <a:t>4</a:t>
            </a:r>
            <a:endParaRPr lang="en-US" sz="1300" dirty="0"/>
          </a:p>
        </p:txBody>
      </p:sp>
      <p:sp>
        <p:nvSpPr>
          <p:cNvPr id="18" name="Text 16"/>
          <p:cNvSpPr/>
          <p:nvPr/>
        </p:nvSpPr>
        <p:spPr>
          <a:xfrm>
            <a:off x="7475220" y="3063240"/>
            <a:ext cx="1737360" cy="914400"/>
          </a:xfrm>
          <a:prstGeom prst="rect">
            <a:avLst/>
          </a:prstGeom>
          <a:noFill/>
          <a:ln/>
        </p:spPr>
        <p:txBody>
          <a:bodyPr wrap="square" rtlCol="0" anchor="ctr"/>
          <a:lstStyle/>
          <a:p>
            <a:pPr algn="ctr" indent="0" marL="0">
              <a:buNone/>
            </a:pPr>
            <a:r>
              <a:t>Identify &amp; Report
Defects</a:t>
            </a:r>
            <a:endParaRPr lang="en-US" sz="1300" dirty="0"/>
          </a:p>
        </p:txBody>
      </p:sp>
      <p:sp>
        <p:nvSpPr>
          <p:cNvPr id="19" name="Shape 17"/>
          <p:cNvSpPr/>
          <p:nvPr/>
        </p:nvSpPr>
        <p:spPr>
          <a:xfrm>
            <a:off x="9304020" y="3319272"/>
            <a:ext cx="342900" cy="219456"/>
          </a:xfrm>
          <a:prstGeom prst="rightArrow">
            <a:avLst/>
          </a:prstGeom>
          <a:solidFill>
            <a:srgbClr val="1C7293"/>
          </a:solidFill>
          <a:ln/>
        </p:spPr>
        <p:txBody>
          <a:bodyPr/>
          <a:p/>
        </p:txBody>
      </p:sp>
      <p:sp>
        <p:nvSpPr>
          <p:cNvPr id="20" name="Shape 18"/>
          <p:cNvSpPr/>
          <p:nvPr/>
        </p:nvSpPr>
        <p:spPr>
          <a:xfrm>
            <a:off x="9646920" y="2743200"/>
            <a:ext cx="1920240" cy="1371600"/>
          </a:xfrm>
          <a:prstGeom prst="roundRect">
            <a:avLst>
              <a:gd name="adj" fmla="val 6667"/>
            </a:avLst>
          </a:prstGeom>
          <a:solidFill>
            <a:srgbClr val="065A82"/>
          </a:solidFill>
          <a:ln w="19050">
            <a:solidFill>
              <a:srgbClr val="065A82"/>
            </a:solidFill>
            <a:prstDash val="solid"/>
          </a:ln>
        </p:spPr>
        <p:txBody>
          <a:bodyPr/>
          <a:p/>
        </p:txBody>
      </p:sp>
      <p:sp>
        <p:nvSpPr>
          <p:cNvPr id="21" name="Text 19"/>
          <p:cNvSpPr/>
          <p:nvPr/>
        </p:nvSpPr>
        <p:spPr>
          <a:xfrm>
            <a:off x="9756648" y="2816352"/>
            <a:ext cx="457200" cy="365760"/>
          </a:xfrm>
          <a:prstGeom prst="rect">
            <a:avLst/>
          </a:prstGeom>
          <a:noFill/>
          <a:ln/>
        </p:spPr>
        <p:txBody>
          <a:bodyPr wrap="square" rtlCol="0" anchor="ctr"/>
          <a:lstStyle/>
          <a:p>
            <a:pPr indent="0" marL="0">
              <a:buNone/>
            </a:pPr>
            <a:r>
              <a:t>5</a:t>
            </a:r>
            <a:endParaRPr lang="en-US" sz="1300" dirty="0"/>
          </a:p>
        </p:txBody>
      </p:sp>
      <p:sp>
        <p:nvSpPr>
          <p:cNvPr id="22" name="Text 20"/>
          <p:cNvSpPr/>
          <p:nvPr/>
        </p:nvSpPr>
        <p:spPr>
          <a:xfrm>
            <a:off x="9738360" y="3063240"/>
            <a:ext cx="1737360" cy="914400"/>
          </a:xfrm>
          <a:prstGeom prst="rect">
            <a:avLst/>
          </a:prstGeom>
          <a:noFill/>
          <a:ln/>
        </p:spPr>
        <p:txBody>
          <a:bodyPr wrap="square" rtlCol="0" anchor="ctr"/>
          <a:lstStyle/>
          <a:p>
            <a:pPr algn="ctr" indent="0" marL="0">
              <a:buNone/>
            </a:pPr>
            <a:r>
              <a:t>Regression Test
&amp; Validate Fixes</a:t>
            </a:r>
            <a:endParaRPr lang="en-US" sz="1300" dirty="0"/>
          </a:p>
        </p:txBody>
      </p:sp>
      <p:sp>
        <p:nvSpPr>
          <p:cNvPr id="23" name="Text 21"/>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4" name="Text 22"/>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Methodology</a:t>
            </a:r>
            <a:endParaRPr lang="en-US" sz="3200" dirty="0"/>
          </a:p>
        </p:txBody>
      </p:sp>
      <p:sp>
        <p:nvSpPr>
          <p:cNvPr id="3" name="Shape 1"/>
          <p:cNvSpPr/>
          <p:nvPr/>
        </p:nvSpPr>
        <p:spPr>
          <a:xfrm>
            <a:off x="640080" y="1417320"/>
            <a:ext cx="502920" cy="502920"/>
          </a:xfrm>
          <a:prstGeom prst="roundRect">
            <a:avLst>
              <a:gd name="adj" fmla="val 18182"/>
            </a:avLst>
          </a:prstGeom>
          <a:solidFill>
            <a:srgbClr val="21295C"/>
          </a:solidFill>
          <a:ln/>
        </p:spPr>
        <p:txBody>
          <a:bodyPr/>
          <a:p/>
        </p:txBody>
      </p:sp>
      <p:sp>
        <p:nvSpPr>
          <p:cNvPr id="4" name="Text 2"/>
          <p:cNvSpPr/>
          <p:nvPr/>
        </p:nvSpPr>
        <p:spPr>
          <a:xfrm>
            <a:off x="640080" y="1417320"/>
            <a:ext cx="502920" cy="502920"/>
          </a:xfrm>
          <a:prstGeom prst="rect">
            <a:avLst/>
          </a:prstGeom>
          <a:noFill/>
          <a:ln/>
        </p:spPr>
        <p:txBody>
          <a:bodyPr wrap="square" rtlCol="0" anchor="ctr"/>
          <a:lstStyle/>
          <a:p>
            <a:pPr algn="ctr" indent="0" marL="0">
              <a:buNone/>
            </a:pPr>
            <a:r>
              <a:t>1</a:t>
            </a:r>
            <a:endParaRPr lang="en-US" sz="2000" dirty="0"/>
          </a:p>
        </p:txBody>
      </p:sp>
      <p:sp>
        <p:nvSpPr>
          <p:cNvPr id="5" name="Shape 3"/>
          <p:cNvSpPr/>
          <p:nvPr/>
        </p:nvSpPr>
        <p:spPr>
          <a:xfrm>
            <a:off x="891540" y="1920240"/>
            <a:ext cx="0" cy="704088"/>
          </a:xfrm>
          <a:prstGeom prst="line">
            <a:avLst/>
          </a:prstGeom>
          <a:noFill/>
          <a:ln w="19050">
            <a:solidFill>
              <a:srgbClr val="B9C6DA"/>
            </a:solidFill>
            <a:prstDash val="dash"/>
          </a:ln>
        </p:spPr>
        <p:txBody>
          <a:bodyPr/>
          <a:p/>
        </p:txBody>
      </p:sp>
      <p:sp>
        <p:nvSpPr>
          <p:cNvPr id="6" name="Text 4"/>
          <p:cNvSpPr/>
          <p:nvPr/>
        </p:nvSpPr>
        <p:spPr>
          <a:xfrm>
            <a:off x="1371600" y="1399032"/>
            <a:ext cx="9692640" cy="365760"/>
          </a:xfrm>
          <a:prstGeom prst="rect">
            <a:avLst/>
          </a:prstGeom>
          <a:noFill/>
          <a:ln/>
        </p:spPr>
        <p:txBody>
          <a:bodyPr wrap="square" rtlCol="0" anchor="ctr"/>
          <a:lstStyle/>
          <a:p>
            <a:pPr indent="0" marL="0">
              <a:buNone/>
            </a:pPr>
            <a:r>
              <a:t>Requirement &amp; Scenario Understanding</a:t>
            </a:r>
            <a:endParaRPr lang="en-US" sz="1600" dirty="0"/>
          </a:p>
        </p:txBody>
      </p:sp>
      <p:sp>
        <p:nvSpPr>
          <p:cNvPr id="7" name="Text 5"/>
          <p:cNvSpPr/>
          <p:nvPr/>
        </p:nvSpPr>
        <p:spPr>
          <a:xfrm>
            <a:off x="1371600" y="1764792"/>
            <a:ext cx="9692640" cy="731520"/>
          </a:xfrm>
          <a:prstGeom prst="rect">
            <a:avLst/>
          </a:prstGeom>
          <a:noFill/>
          <a:ln/>
        </p:spPr>
        <p:txBody>
          <a:bodyPr wrap="square" rtlCol="0" anchor="ctr"/>
          <a:lstStyle/>
          <a:p>
            <a:pPr indent="0" marL="0">
              <a:buNone/>
            </a:pPr>
            <a:r>
              <a:t>Studied the website project and identified the features, workflows and user-facing areas that needed verification.</a:t>
            </a:r>
            <a:endParaRPr lang="en-US" sz="1300" dirty="0"/>
          </a:p>
        </p:txBody>
      </p:sp>
      <p:sp>
        <p:nvSpPr>
          <p:cNvPr id="8" name="Shape 6"/>
          <p:cNvSpPr/>
          <p:nvPr/>
        </p:nvSpPr>
        <p:spPr>
          <a:xfrm>
            <a:off x="640080" y="2624328"/>
            <a:ext cx="502920" cy="502920"/>
          </a:xfrm>
          <a:prstGeom prst="roundRect">
            <a:avLst>
              <a:gd name="adj" fmla="val 18182"/>
            </a:avLst>
          </a:prstGeom>
          <a:solidFill>
            <a:srgbClr val="21295C"/>
          </a:solidFill>
          <a:ln/>
        </p:spPr>
        <p:txBody>
          <a:bodyPr/>
          <a:p/>
        </p:txBody>
      </p:sp>
      <p:sp>
        <p:nvSpPr>
          <p:cNvPr id="9" name="Text 7"/>
          <p:cNvSpPr/>
          <p:nvPr/>
        </p:nvSpPr>
        <p:spPr>
          <a:xfrm>
            <a:off x="640080" y="2624328"/>
            <a:ext cx="502920" cy="502920"/>
          </a:xfrm>
          <a:prstGeom prst="rect">
            <a:avLst/>
          </a:prstGeom>
          <a:noFill/>
          <a:ln/>
        </p:spPr>
        <p:txBody>
          <a:bodyPr wrap="square" rtlCol="0" anchor="ctr"/>
          <a:lstStyle/>
          <a:p>
            <a:pPr algn="ctr" indent="0" marL="0">
              <a:buNone/>
            </a:pPr>
            <a:r>
              <a:t>2</a:t>
            </a:r>
            <a:endParaRPr lang="en-US" sz="2000" dirty="0"/>
          </a:p>
        </p:txBody>
      </p:sp>
      <p:sp>
        <p:nvSpPr>
          <p:cNvPr id="10" name="Shape 8"/>
          <p:cNvSpPr/>
          <p:nvPr/>
        </p:nvSpPr>
        <p:spPr>
          <a:xfrm>
            <a:off x="891540" y="3127248"/>
            <a:ext cx="0" cy="704088"/>
          </a:xfrm>
          <a:prstGeom prst="line">
            <a:avLst/>
          </a:prstGeom>
          <a:noFill/>
          <a:ln w="19050">
            <a:solidFill>
              <a:srgbClr val="B9C6DA"/>
            </a:solidFill>
            <a:prstDash val="dash"/>
          </a:ln>
        </p:spPr>
        <p:txBody>
          <a:bodyPr/>
          <a:p/>
        </p:txBody>
      </p:sp>
      <p:sp>
        <p:nvSpPr>
          <p:cNvPr id="11" name="Text 9"/>
          <p:cNvSpPr/>
          <p:nvPr/>
        </p:nvSpPr>
        <p:spPr>
          <a:xfrm>
            <a:off x="1371600" y="2606040"/>
            <a:ext cx="9692640" cy="365760"/>
          </a:xfrm>
          <a:prstGeom prst="rect">
            <a:avLst/>
          </a:prstGeom>
          <a:noFill/>
          <a:ln/>
        </p:spPr>
        <p:txBody>
          <a:bodyPr wrap="square" rtlCol="0" anchor="ctr"/>
          <a:lstStyle/>
          <a:p>
            <a:pPr indent="0" marL="0">
              <a:buNone/>
            </a:pPr>
            <a:r>
              <a:t>Test Case Creation &amp; Execution</a:t>
            </a:r>
            <a:endParaRPr lang="en-US" sz="1600" dirty="0"/>
          </a:p>
        </p:txBody>
      </p:sp>
      <p:sp>
        <p:nvSpPr>
          <p:cNvPr id="12" name="Text 10"/>
          <p:cNvSpPr/>
          <p:nvPr/>
        </p:nvSpPr>
        <p:spPr>
          <a:xfrm>
            <a:off x="1371600" y="2971800"/>
            <a:ext cx="9692640" cy="731520"/>
          </a:xfrm>
          <a:prstGeom prst="rect">
            <a:avLst/>
          </a:prstGeom>
          <a:noFill/>
          <a:ln/>
        </p:spPr>
        <p:txBody>
          <a:bodyPr wrap="square" rtlCol="0" anchor="ctr"/>
          <a:lstStyle/>
          <a:p>
            <a:pPr indent="0" marL="0">
              <a:buNone/>
            </a:pPr>
            <a:r>
              <a:t>Prepared structured test cases, executed them and recorded pass/fail results to maintain a systematic testing process.</a:t>
            </a:r>
            <a:endParaRPr lang="en-US" sz="1300" dirty="0"/>
          </a:p>
        </p:txBody>
      </p:sp>
      <p:sp>
        <p:nvSpPr>
          <p:cNvPr id="13" name="Shape 11"/>
          <p:cNvSpPr/>
          <p:nvPr/>
        </p:nvSpPr>
        <p:spPr>
          <a:xfrm>
            <a:off x="640080" y="3831336"/>
            <a:ext cx="502920" cy="502920"/>
          </a:xfrm>
          <a:prstGeom prst="roundRect">
            <a:avLst>
              <a:gd name="adj" fmla="val 18182"/>
            </a:avLst>
          </a:prstGeom>
          <a:solidFill>
            <a:srgbClr val="21295C"/>
          </a:solidFill>
          <a:ln/>
        </p:spPr>
        <p:txBody>
          <a:bodyPr/>
          <a:p/>
        </p:txBody>
      </p:sp>
      <p:sp>
        <p:nvSpPr>
          <p:cNvPr id="14" name="Text 12"/>
          <p:cNvSpPr/>
          <p:nvPr/>
        </p:nvSpPr>
        <p:spPr>
          <a:xfrm>
            <a:off x="640080" y="3831336"/>
            <a:ext cx="502920" cy="502920"/>
          </a:xfrm>
          <a:prstGeom prst="rect">
            <a:avLst/>
          </a:prstGeom>
          <a:noFill/>
          <a:ln/>
        </p:spPr>
        <p:txBody>
          <a:bodyPr wrap="square" rtlCol="0" anchor="ctr"/>
          <a:lstStyle/>
          <a:p>
            <a:pPr algn="ctr" indent="0" marL="0">
              <a:buNone/>
            </a:pPr>
            <a:r>
              <a:t>3</a:t>
            </a:r>
            <a:endParaRPr lang="en-US" sz="2000" dirty="0"/>
          </a:p>
        </p:txBody>
      </p:sp>
      <p:sp>
        <p:nvSpPr>
          <p:cNvPr id="15" name="Shape 13"/>
          <p:cNvSpPr/>
          <p:nvPr/>
        </p:nvSpPr>
        <p:spPr>
          <a:xfrm>
            <a:off x="891540" y="4334256"/>
            <a:ext cx="0" cy="704088"/>
          </a:xfrm>
          <a:prstGeom prst="line">
            <a:avLst/>
          </a:prstGeom>
          <a:noFill/>
          <a:ln w="19050">
            <a:solidFill>
              <a:srgbClr val="B9C6DA"/>
            </a:solidFill>
            <a:prstDash val="dash"/>
          </a:ln>
        </p:spPr>
        <p:txBody>
          <a:bodyPr/>
          <a:p/>
        </p:txBody>
      </p:sp>
      <p:sp>
        <p:nvSpPr>
          <p:cNvPr id="16" name="Text 14"/>
          <p:cNvSpPr/>
          <p:nvPr/>
        </p:nvSpPr>
        <p:spPr>
          <a:xfrm>
            <a:off x="1371600" y="3813048"/>
            <a:ext cx="9692640" cy="365760"/>
          </a:xfrm>
          <a:prstGeom prst="rect">
            <a:avLst/>
          </a:prstGeom>
          <a:noFill/>
          <a:ln/>
        </p:spPr>
        <p:txBody>
          <a:bodyPr wrap="square" rtlCol="0" anchor="ctr"/>
          <a:lstStyle/>
          <a:p>
            <a:pPr indent="0" marL="0">
              <a:buNone/>
            </a:pPr>
            <a:r>
              <a:t>Defect Identification &amp; Reporting</a:t>
            </a:r>
            <a:endParaRPr lang="en-US" sz="1600" dirty="0"/>
          </a:p>
        </p:txBody>
      </p:sp>
      <p:sp>
        <p:nvSpPr>
          <p:cNvPr id="17" name="Text 15"/>
          <p:cNvSpPr/>
          <p:nvPr/>
        </p:nvSpPr>
        <p:spPr>
          <a:xfrm>
            <a:off x="1371600" y="4178808"/>
            <a:ext cx="9692640" cy="731520"/>
          </a:xfrm>
          <a:prstGeom prst="rect">
            <a:avLst/>
          </a:prstGeom>
          <a:noFill/>
          <a:ln/>
        </p:spPr>
        <p:txBody>
          <a:bodyPr wrap="square" rtlCol="0" anchor="ctr"/>
          <a:lstStyle/>
          <a:p>
            <a:pPr indent="0" marL="0">
              <a:buNone/>
            </a:pPr>
            <a:r>
              <a:t>Identified bugs and inconsistencies, documented them with useful details, and supported the development team during debugging.</a:t>
            </a:r>
            <a:endParaRPr lang="en-US" sz="1300" dirty="0"/>
          </a:p>
        </p:txBody>
      </p:sp>
      <p:sp>
        <p:nvSpPr>
          <p:cNvPr id="18" name="Shape 16"/>
          <p:cNvSpPr/>
          <p:nvPr/>
        </p:nvSpPr>
        <p:spPr>
          <a:xfrm>
            <a:off x="640080" y="5038344"/>
            <a:ext cx="502920" cy="502920"/>
          </a:xfrm>
          <a:prstGeom prst="roundRect">
            <a:avLst>
              <a:gd name="adj" fmla="val 18182"/>
            </a:avLst>
          </a:prstGeom>
          <a:solidFill>
            <a:srgbClr val="21295C"/>
          </a:solidFill>
          <a:ln/>
        </p:spPr>
        <p:txBody>
          <a:bodyPr/>
          <a:p/>
        </p:txBody>
      </p:sp>
      <p:sp>
        <p:nvSpPr>
          <p:cNvPr id="19" name="Text 17"/>
          <p:cNvSpPr/>
          <p:nvPr/>
        </p:nvSpPr>
        <p:spPr>
          <a:xfrm>
            <a:off x="640080" y="5038344"/>
            <a:ext cx="502920" cy="502920"/>
          </a:xfrm>
          <a:prstGeom prst="rect">
            <a:avLst/>
          </a:prstGeom>
          <a:noFill/>
          <a:ln/>
        </p:spPr>
        <p:txBody>
          <a:bodyPr wrap="square" rtlCol="0" anchor="ctr"/>
          <a:lstStyle/>
          <a:p>
            <a:pPr algn="ctr" indent="0" marL="0">
              <a:buNone/>
            </a:pPr>
            <a:r>
              <a:t>4</a:t>
            </a:r>
            <a:endParaRPr lang="en-US" sz="2000" dirty="0"/>
          </a:p>
        </p:txBody>
      </p:sp>
      <p:sp>
        <p:nvSpPr>
          <p:cNvPr id="20" name="Text 18"/>
          <p:cNvSpPr/>
          <p:nvPr/>
        </p:nvSpPr>
        <p:spPr>
          <a:xfrm>
            <a:off x="1371600" y="5020056"/>
            <a:ext cx="9692640" cy="365760"/>
          </a:xfrm>
          <a:prstGeom prst="rect">
            <a:avLst/>
          </a:prstGeom>
          <a:noFill/>
          <a:ln/>
        </p:spPr>
        <p:txBody>
          <a:bodyPr wrap="square" rtlCol="0" anchor="ctr"/>
          <a:lstStyle/>
          <a:p>
            <a:pPr indent="0" marL="0">
              <a:buNone/>
            </a:pPr>
            <a:r>
              <a:t>Regression &amp; API Validation</a:t>
            </a:r>
            <a:endParaRPr lang="en-US" sz="1600" dirty="0"/>
          </a:p>
        </p:txBody>
      </p:sp>
      <p:sp>
        <p:nvSpPr>
          <p:cNvPr id="21" name="Text 19"/>
          <p:cNvSpPr/>
          <p:nvPr/>
        </p:nvSpPr>
        <p:spPr>
          <a:xfrm>
            <a:off x="1371600" y="5385816"/>
            <a:ext cx="9692640" cy="731520"/>
          </a:xfrm>
          <a:prstGeom prst="rect">
            <a:avLst/>
          </a:prstGeom>
          <a:noFill/>
          <a:ln/>
        </p:spPr>
        <p:txBody>
          <a:bodyPr wrap="square" rtlCol="0" anchor="ctr"/>
          <a:lstStyle/>
          <a:p>
            <a:pPr indent="0" marL="0">
              <a:buNone/>
            </a:pPr>
            <a:r>
              <a:t>Re-tested corrected functionality and performed API checks to confirm stability and reliable application behaviour.</a:t>
            </a:r>
            <a:endParaRPr lang="en-US" sz="1300" dirty="0"/>
          </a:p>
        </p:txBody>
      </p:sp>
      <p:sp>
        <p:nvSpPr>
          <p:cNvPr id="22" name="Text 20"/>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3" name="Text 21"/>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1280160"/>
            <a:ext cx="3657600" cy="3657600"/>
          </a:xfrm>
          <a:prstGeom prst="ellipse">
            <a:avLst/>
          </a:prstGeom>
          <a:solidFill>
            <a:srgbClr val="1C7293">
              <a:alpha val="45000"/>
            </a:srgbClr>
          </a:solidFill>
          <a:ln/>
        </p:spPr>
        <p:txBody>
          <a:bodyPr/>
          <a:p/>
        </p:txBody>
      </p:sp>
      <p:sp>
        <p:nvSpPr>
          <p:cNvPr id="3" name="Text 1"/>
          <p:cNvSpPr/>
          <p:nvPr/>
        </p:nvSpPr>
        <p:spPr>
          <a:xfrm>
            <a:off x="548640" y="457200"/>
            <a:ext cx="9144000" cy="731520"/>
          </a:xfrm>
          <a:prstGeom prst="rect">
            <a:avLst/>
          </a:prstGeom>
          <a:noFill/>
          <a:ln/>
        </p:spPr>
        <p:txBody>
          <a:bodyPr wrap="square" rtlCol="0" anchor="ctr"/>
          <a:lstStyle/>
          <a:p>
            <a:pPr indent="0" marL="0">
              <a:buNone/>
            </a:pPr>
            <a:r>
              <a:t>Expected Outcomes &amp; Skills Gained</a:t>
            </a:r>
            <a:endParaRPr lang="en-US" sz="3200" dirty="0"/>
          </a:p>
        </p:txBody>
      </p:sp>
      <p:sp>
        <p:nvSpPr>
          <p:cNvPr id="4" name="Shape 2"/>
          <p:cNvSpPr/>
          <p:nvPr/>
        </p:nvSpPr>
        <p:spPr>
          <a:xfrm>
            <a:off x="594360" y="1554480"/>
            <a:ext cx="5257800" cy="1234440"/>
          </a:xfrm>
          <a:prstGeom prst="roundRect">
            <a:avLst>
              <a:gd name="adj" fmla="val 5926"/>
            </a:avLst>
          </a:prstGeom>
          <a:solidFill>
            <a:srgbClr val="2B3570"/>
          </a:solidFill>
          <a:ln/>
        </p:spPr>
        <p:txBody>
          <a:bodyPr/>
          <a:p/>
        </p:txBody>
      </p:sp>
      <p:sp>
        <p:nvSpPr>
          <p:cNvPr id="5" name="Shape 3"/>
          <p:cNvSpPr/>
          <p:nvPr/>
        </p:nvSpPr>
        <p:spPr>
          <a:xfrm>
            <a:off x="777240" y="1897380"/>
            <a:ext cx="548640" cy="548640"/>
          </a:xfrm>
          <a:prstGeom prst="ellipse">
            <a:avLst/>
          </a:prstGeom>
          <a:solidFill>
            <a:srgbClr val="1C7293"/>
          </a:solidFill>
          <a:ln/>
        </p:spPr>
        <p:txBody>
          <a:bodyPr/>
          <a:p/>
        </p:txBody>
      </p:sp>
      <p:pic>
        <p:nvPicPr>
          <p:cNvPr id="6" name="Image 0" descr="assets/icons/outcomes.png">    </p:cNvPr>
          <p:cNvPicPr>
            <a:picLocks noChangeAspect="1"/>
          </p:cNvPicPr>
          <p:nvPr/>
        </p:nvPicPr>
        <p:blipFill>
          <a:blip r:embed="rId1"/>
          <a:stretch>
            <a:fillRect/>
          </a:stretch>
        </p:blipFill>
        <p:spPr>
          <a:xfrm>
            <a:off x="919886" y="2040026"/>
            <a:ext cx="263347" cy="263347"/>
          </a:xfrm>
          <a:prstGeom prst="rect">
            <a:avLst/>
          </a:prstGeom>
        </p:spPr>
      </p:pic>
      <p:sp>
        <p:nvSpPr>
          <p:cNvPr id="7" name="Text 4"/>
          <p:cNvSpPr/>
          <p:nvPr/>
        </p:nvSpPr>
        <p:spPr>
          <a:xfrm>
            <a:off x="1508760" y="1664208"/>
            <a:ext cx="4160520" cy="1014984"/>
          </a:xfrm>
          <a:prstGeom prst="rect">
            <a:avLst/>
          </a:prstGeom>
          <a:noFill/>
          <a:ln/>
        </p:spPr>
        <p:txBody>
          <a:bodyPr wrap="square" rtlCol="0" anchor="ctr"/>
          <a:lstStyle/>
          <a:p>
            <a:pPr indent="0" marL="0">
              <a:buNone/>
            </a:pPr>
            <a:r>
              <a:t>Practical understanding of website quality assurance and structured testing</a:t>
            </a:r>
            <a:endParaRPr lang="en-US" sz="1250" dirty="0"/>
          </a:p>
        </p:txBody>
      </p:sp>
      <p:sp>
        <p:nvSpPr>
          <p:cNvPr id="8" name="Shape 5"/>
          <p:cNvSpPr/>
          <p:nvPr/>
        </p:nvSpPr>
        <p:spPr>
          <a:xfrm>
            <a:off x="6217920" y="1554480"/>
            <a:ext cx="5257800" cy="1234440"/>
          </a:xfrm>
          <a:prstGeom prst="roundRect">
            <a:avLst>
              <a:gd name="adj" fmla="val 5926"/>
            </a:avLst>
          </a:prstGeom>
          <a:solidFill>
            <a:srgbClr val="2B3570"/>
          </a:solidFill>
          <a:ln/>
        </p:spPr>
        <p:txBody>
          <a:bodyPr/>
          <a:p/>
        </p:txBody>
      </p:sp>
      <p:sp>
        <p:nvSpPr>
          <p:cNvPr id="9" name="Shape 6"/>
          <p:cNvSpPr/>
          <p:nvPr/>
        </p:nvSpPr>
        <p:spPr>
          <a:xfrm>
            <a:off x="6400800" y="1897380"/>
            <a:ext cx="548640" cy="548640"/>
          </a:xfrm>
          <a:prstGeom prst="ellipse">
            <a:avLst/>
          </a:prstGeom>
          <a:solidFill>
            <a:srgbClr val="1C7293"/>
          </a:solidFill>
          <a:ln/>
        </p:spPr>
        <p:txBody>
          <a:bodyPr/>
          <a:p/>
        </p:txBody>
      </p:sp>
      <p:pic>
        <p:nvPicPr>
          <p:cNvPr id="10" name="Image 1" descr="assets/icons/outcomes.png">    </p:cNvPr>
          <p:cNvPicPr>
            <a:picLocks noChangeAspect="1"/>
          </p:cNvPicPr>
          <p:nvPr/>
        </p:nvPicPr>
        <p:blipFill>
          <a:blip r:embed="rId2"/>
          <a:stretch>
            <a:fillRect/>
          </a:stretch>
        </p:blipFill>
        <p:spPr>
          <a:xfrm>
            <a:off x="6543446" y="2040026"/>
            <a:ext cx="263347" cy="263347"/>
          </a:xfrm>
          <a:prstGeom prst="rect">
            <a:avLst/>
          </a:prstGeom>
        </p:spPr>
      </p:pic>
      <p:sp>
        <p:nvSpPr>
          <p:cNvPr id="11" name="Text 7"/>
          <p:cNvSpPr/>
          <p:nvPr/>
        </p:nvSpPr>
        <p:spPr>
          <a:xfrm>
            <a:off x="7132320" y="1664208"/>
            <a:ext cx="4160520" cy="1014984"/>
          </a:xfrm>
          <a:prstGeom prst="rect">
            <a:avLst/>
          </a:prstGeom>
          <a:noFill/>
          <a:ln/>
        </p:spPr>
        <p:txBody>
          <a:bodyPr wrap="square" rtlCol="0" anchor="ctr"/>
          <a:lstStyle/>
          <a:p>
            <a:pPr indent="0" marL="0">
              <a:buNone/>
            </a:pPr>
            <a:r>
              <a:t>Ability to design, execute and document effective test cases</a:t>
            </a:r>
            <a:endParaRPr lang="en-US" sz="1250" dirty="0"/>
          </a:p>
        </p:txBody>
      </p:sp>
      <p:sp>
        <p:nvSpPr>
          <p:cNvPr id="12" name="Shape 8"/>
          <p:cNvSpPr/>
          <p:nvPr/>
        </p:nvSpPr>
        <p:spPr>
          <a:xfrm>
            <a:off x="594360" y="2971800"/>
            <a:ext cx="5257800" cy="1234440"/>
          </a:xfrm>
          <a:prstGeom prst="roundRect">
            <a:avLst>
              <a:gd name="adj" fmla="val 5926"/>
            </a:avLst>
          </a:prstGeom>
          <a:solidFill>
            <a:srgbClr val="2B3570"/>
          </a:solidFill>
          <a:ln/>
        </p:spPr>
        <p:txBody>
          <a:bodyPr/>
          <a:p/>
        </p:txBody>
      </p:sp>
      <p:sp>
        <p:nvSpPr>
          <p:cNvPr id="13" name="Shape 9"/>
          <p:cNvSpPr/>
          <p:nvPr/>
        </p:nvSpPr>
        <p:spPr>
          <a:xfrm>
            <a:off x="777240" y="3314700"/>
            <a:ext cx="548640" cy="548640"/>
          </a:xfrm>
          <a:prstGeom prst="ellipse">
            <a:avLst/>
          </a:prstGeom>
          <a:solidFill>
            <a:srgbClr val="1C7293"/>
          </a:solidFill>
          <a:ln/>
        </p:spPr>
        <p:txBody>
          <a:bodyPr/>
          <a:p/>
        </p:txBody>
      </p:sp>
      <p:pic>
        <p:nvPicPr>
          <p:cNvPr id="14" name="Image 2" descr="assets/icons/outcomes.png">    </p:cNvPr>
          <p:cNvPicPr>
            <a:picLocks noChangeAspect="1"/>
          </p:cNvPicPr>
          <p:nvPr/>
        </p:nvPicPr>
        <p:blipFill>
          <a:blip r:embed="rId3"/>
          <a:stretch>
            <a:fillRect/>
          </a:stretch>
        </p:blipFill>
        <p:spPr>
          <a:xfrm>
            <a:off x="919886" y="3457346"/>
            <a:ext cx="263347" cy="263347"/>
          </a:xfrm>
          <a:prstGeom prst="rect">
            <a:avLst/>
          </a:prstGeom>
        </p:spPr>
      </p:pic>
      <p:sp>
        <p:nvSpPr>
          <p:cNvPr id="15" name="Text 10"/>
          <p:cNvSpPr/>
          <p:nvPr/>
        </p:nvSpPr>
        <p:spPr>
          <a:xfrm>
            <a:off x="1508760" y="3081528"/>
            <a:ext cx="4160520" cy="1014984"/>
          </a:xfrm>
          <a:prstGeom prst="rect">
            <a:avLst/>
          </a:prstGeom>
          <a:noFill/>
          <a:ln/>
        </p:spPr>
        <p:txBody>
          <a:bodyPr wrap="square" rtlCol="0" anchor="ctr"/>
          <a:lstStyle/>
          <a:p>
            <a:pPr indent="0" marL="0">
              <a:buNone/>
            </a:pPr>
            <a:r>
              <a:t>Improved skills in UI/UX, functional and regression testing</a:t>
            </a:r>
            <a:endParaRPr lang="en-US" sz="1250" dirty="0"/>
          </a:p>
        </p:txBody>
      </p:sp>
      <p:sp>
        <p:nvSpPr>
          <p:cNvPr id="16" name="Shape 11"/>
          <p:cNvSpPr/>
          <p:nvPr/>
        </p:nvSpPr>
        <p:spPr>
          <a:xfrm>
            <a:off x="6217920" y="2971800"/>
            <a:ext cx="5257800" cy="1234440"/>
          </a:xfrm>
          <a:prstGeom prst="roundRect">
            <a:avLst>
              <a:gd name="adj" fmla="val 5926"/>
            </a:avLst>
          </a:prstGeom>
          <a:solidFill>
            <a:srgbClr val="2B3570"/>
          </a:solidFill>
          <a:ln/>
        </p:spPr>
        <p:txBody>
          <a:bodyPr/>
          <a:p/>
        </p:txBody>
      </p:sp>
      <p:sp>
        <p:nvSpPr>
          <p:cNvPr id="17" name="Shape 12"/>
          <p:cNvSpPr/>
          <p:nvPr/>
        </p:nvSpPr>
        <p:spPr>
          <a:xfrm>
            <a:off x="6400800" y="3314700"/>
            <a:ext cx="548640" cy="548640"/>
          </a:xfrm>
          <a:prstGeom prst="ellipse">
            <a:avLst/>
          </a:prstGeom>
          <a:solidFill>
            <a:srgbClr val="1C7293"/>
          </a:solidFill>
          <a:ln/>
        </p:spPr>
        <p:txBody>
          <a:bodyPr/>
          <a:p/>
        </p:txBody>
      </p:sp>
      <p:pic>
        <p:nvPicPr>
          <p:cNvPr id="18" name="Image 3" descr="assets/icons/outcomes.png">    </p:cNvPr>
          <p:cNvPicPr>
            <a:picLocks noChangeAspect="1"/>
          </p:cNvPicPr>
          <p:nvPr/>
        </p:nvPicPr>
        <p:blipFill>
          <a:blip r:embed="rId4"/>
          <a:stretch>
            <a:fillRect/>
          </a:stretch>
        </p:blipFill>
        <p:spPr>
          <a:xfrm>
            <a:off x="6543446" y="3457346"/>
            <a:ext cx="263347" cy="263347"/>
          </a:xfrm>
          <a:prstGeom prst="rect">
            <a:avLst/>
          </a:prstGeom>
        </p:spPr>
      </p:pic>
      <p:sp>
        <p:nvSpPr>
          <p:cNvPr id="19" name="Text 13"/>
          <p:cNvSpPr/>
          <p:nvPr/>
        </p:nvSpPr>
        <p:spPr>
          <a:xfrm>
            <a:off x="7132320" y="3081528"/>
            <a:ext cx="4160520" cy="1014984"/>
          </a:xfrm>
          <a:prstGeom prst="rect">
            <a:avLst/>
          </a:prstGeom>
          <a:noFill/>
          <a:ln/>
        </p:spPr>
        <p:txBody>
          <a:bodyPr wrap="square" rtlCol="0" anchor="ctr"/>
          <a:lstStyle/>
          <a:p>
            <a:pPr indent="0" marL="0">
              <a:buNone/>
            </a:pPr>
            <a:r>
              <a:t>Experience in defect identification, tracking, reporting and debugging support</a:t>
            </a:r>
            <a:endParaRPr lang="en-US" sz="1250" dirty="0"/>
          </a:p>
        </p:txBody>
      </p:sp>
      <p:sp>
        <p:nvSpPr>
          <p:cNvPr id="20" name="Shape 14"/>
          <p:cNvSpPr/>
          <p:nvPr/>
        </p:nvSpPr>
        <p:spPr>
          <a:xfrm>
            <a:off x="594360" y="4389120"/>
            <a:ext cx="5257800" cy="1234440"/>
          </a:xfrm>
          <a:prstGeom prst="roundRect">
            <a:avLst>
              <a:gd name="adj" fmla="val 5926"/>
            </a:avLst>
          </a:prstGeom>
          <a:solidFill>
            <a:srgbClr val="2B3570"/>
          </a:solidFill>
          <a:ln/>
        </p:spPr>
        <p:txBody>
          <a:bodyPr/>
          <a:p/>
        </p:txBody>
      </p:sp>
      <p:sp>
        <p:nvSpPr>
          <p:cNvPr id="21" name="Shape 15"/>
          <p:cNvSpPr/>
          <p:nvPr/>
        </p:nvSpPr>
        <p:spPr>
          <a:xfrm>
            <a:off x="777240" y="4732020"/>
            <a:ext cx="548640" cy="548640"/>
          </a:xfrm>
          <a:prstGeom prst="ellipse">
            <a:avLst/>
          </a:prstGeom>
          <a:solidFill>
            <a:srgbClr val="1C7293"/>
          </a:solidFill>
          <a:ln/>
        </p:spPr>
        <p:txBody>
          <a:bodyPr/>
          <a:p/>
        </p:txBody>
      </p:sp>
      <p:pic>
        <p:nvPicPr>
          <p:cNvPr id="22" name="Image 4" descr="assets/icons/outcomes.png">    </p:cNvPr>
          <p:cNvPicPr>
            <a:picLocks noChangeAspect="1"/>
          </p:cNvPicPr>
          <p:nvPr/>
        </p:nvPicPr>
        <p:blipFill>
          <a:blip r:embed="rId5"/>
          <a:stretch>
            <a:fillRect/>
          </a:stretch>
        </p:blipFill>
        <p:spPr>
          <a:xfrm>
            <a:off x="919886" y="4874666"/>
            <a:ext cx="263347" cy="263347"/>
          </a:xfrm>
          <a:prstGeom prst="rect">
            <a:avLst/>
          </a:prstGeom>
        </p:spPr>
      </p:pic>
      <p:sp>
        <p:nvSpPr>
          <p:cNvPr id="23" name="Text 16"/>
          <p:cNvSpPr/>
          <p:nvPr/>
        </p:nvSpPr>
        <p:spPr>
          <a:xfrm>
            <a:off x="1508760" y="4498848"/>
            <a:ext cx="4160520" cy="1014984"/>
          </a:xfrm>
          <a:prstGeom prst="rect">
            <a:avLst/>
          </a:prstGeom>
          <a:noFill/>
          <a:ln/>
        </p:spPr>
        <p:txBody>
          <a:bodyPr wrap="square" rtlCol="0" anchor="ctr"/>
          <a:lstStyle/>
          <a:p>
            <a:pPr indent="0" marL="0">
              <a:buNone/>
            </a:pPr>
            <a:r>
              <a:t>Hands-on exposure to API testing and validation</a:t>
            </a:r>
            <a:endParaRPr lang="en-US" sz="1250" dirty="0"/>
          </a:p>
        </p:txBody>
      </p:sp>
      <p:sp>
        <p:nvSpPr>
          <p:cNvPr id="24" name="Shape 17"/>
          <p:cNvSpPr/>
          <p:nvPr/>
        </p:nvSpPr>
        <p:spPr>
          <a:xfrm>
            <a:off x="6217920" y="4389120"/>
            <a:ext cx="5257800" cy="1234440"/>
          </a:xfrm>
          <a:prstGeom prst="roundRect">
            <a:avLst>
              <a:gd name="adj" fmla="val 5926"/>
            </a:avLst>
          </a:prstGeom>
          <a:solidFill>
            <a:srgbClr val="2B3570"/>
          </a:solidFill>
          <a:ln/>
        </p:spPr>
        <p:txBody>
          <a:bodyPr/>
          <a:p/>
        </p:txBody>
      </p:sp>
      <p:sp>
        <p:nvSpPr>
          <p:cNvPr id="25" name="Shape 18"/>
          <p:cNvSpPr/>
          <p:nvPr/>
        </p:nvSpPr>
        <p:spPr>
          <a:xfrm>
            <a:off x="6400800" y="4732020"/>
            <a:ext cx="548640" cy="548640"/>
          </a:xfrm>
          <a:prstGeom prst="ellipse">
            <a:avLst/>
          </a:prstGeom>
          <a:solidFill>
            <a:srgbClr val="1C7293"/>
          </a:solidFill>
          <a:ln/>
        </p:spPr>
        <p:txBody>
          <a:bodyPr/>
          <a:p/>
        </p:txBody>
      </p:sp>
      <p:pic>
        <p:nvPicPr>
          <p:cNvPr id="26" name="Image 5" descr="assets/icons/outcomes.png">    </p:cNvPr>
          <p:cNvPicPr>
            <a:picLocks noChangeAspect="1"/>
          </p:cNvPicPr>
          <p:nvPr/>
        </p:nvPicPr>
        <p:blipFill>
          <a:blip r:embed="rId6"/>
          <a:stretch>
            <a:fillRect/>
          </a:stretch>
        </p:blipFill>
        <p:spPr>
          <a:xfrm>
            <a:off x="6543446" y="4874666"/>
            <a:ext cx="263347" cy="263347"/>
          </a:xfrm>
          <a:prstGeom prst="rect">
            <a:avLst/>
          </a:prstGeom>
        </p:spPr>
      </p:pic>
      <p:sp>
        <p:nvSpPr>
          <p:cNvPr id="27" name="Text 19"/>
          <p:cNvSpPr/>
          <p:nvPr/>
        </p:nvSpPr>
        <p:spPr>
          <a:xfrm>
            <a:off x="7132320" y="4498848"/>
            <a:ext cx="4160520" cy="1014984"/>
          </a:xfrm>
          <a:prstGeom prst="rect">
            <a:avLst/>
          </a:prstGeom>
          <a:noFill/>
          <a:ln/>
        </p:spPr>
        <p:txBody>
          <a:bodyPr wrap="square" rtlCol="0" anchor="ctr"/>
          <a:lstStyle/>
          <a:p>
            <a:pPr indent="0" marL="0">
              <a:buNone/>
            </a:pPr>
            <a:r>
              <a:t>Stronger attention to detail, analytical thinking and professional QA practices</a:t>
            </a:r>
            <a:endParaRPr lang="en-US" sz="1250" dirty="0"/>
          </a:p>
        </p:txBody>
      </p:sp>
      <p:sp>
        <p:nvSpPr>
          <p:cNvPr id="28" name="Text 20"/>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9" name="Text 21"/>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Picture 1" descr="certificate_clear.png"/>
          <p:cNvPicPr>
            <a:picLocks noChangeAspect="1"/>
          </p:cNvPicPr>
          <p:nvPr/>
        </p:nvPicPr>
        <p:blipFill>
          <a:blip r:embed="rId5"/>
          <a:stretch>
            <a:fillRect/>
          </a:stretch>
        </p:blipFill>
        <p:spPr>
          <a:xfrm>
            <a:off x="3720078" y="68580"/>
            <a:ext cx="4751843" cy="6720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065A82">
              <a:alpha val="45000"/>
            </a:srgbClr>
          </a:solidFill>
          <a:ln/>
        </p:spPr>
      </p:sp>
      <p:sp>
        <p:nvSpPr>
          <p:cNvPr id="3" name="Shape 1"/>
          <p:cNvSpPr/>
          <p:nvPr/>
        </p:nvSpPr>
        <p:spPr>
          <a:xfrm>
            <a:off x="-1280160" y="4846320"/>
            <a:ext cx="3291840" cy="3291840"/>
          </a:xfrm>
          <a:prstGeom prst="ellipse">
            <a:avLst/>
          </a:prstGeom>
          <a:solidFill>
            <a:srgbClr val="1C7293">
              <a:alpha val="45000"/>
            </a:srgbClr>
          </a:solidFill>
          <a:ln/>
        </p:spPr>
      </p:sp>
      <p:sp>
        <p:nvSpPr>
          <p:cNvPr id="4" name="Shape 2"/>
          <p:cNvSpPr/>
          <p:nvPr/>
        </p:nvSpPr>
        <p:spPr>
          <a:xfrm>
            <a:off x="5394960" y="1920240"/>
            <a:ext cx="1371600" cy="1371600"/>
          </a:xfrm>
          <a:prstGeom prst="ellipse">
            <a:avLst/>
          </a:prstGeom>
          <a:solidFill>
            <a:srgbClr val="1C7293"/>
          </a:solidFill>
          <a:ln/>
        </p:spPr>
      </p:sp>
      <p:pic>
        <p:nvPicPr>
          <p:cNvPr id="5" name="Image 0" descr="assets/icons/thanks.png">    </p:cNvPr>
          <p:cNvPicPr>
            <a:picLocks noChangeAspect="1"/>
          </p:cNvPicPr>
          <p:nvPr/>
        </p:nvPicPr>
        <p:blipFill>
          <a:blip r:embed="rId1"/>
          <a:stretch>
            <a:fillRect/>
          </a:stretch>
        </p:blipFill>
        <p:spPr>
          <a:xfrm>
            <a:off x="5751576" y="2276856"/>
            <a:ext cx="658368" cy="658368"/>
          </a:xfrm>
          <a:prstGeom prst="rect">
            <a:avLst/>
          </a:prstGeom>
        </p:spPr>
      </p:pic>
      <p:sp>
        <p:nvSpPr>
          <p:cNvPr id="6" name="Text 3"/>
          <p:cNvSpPr/>
          <p:nvPr/>
        </p:nvSpPr>
        <p:spPr>
          <a:xfrm>
            <a:off x="822960" y="3657600"/>
            <a:ext cx="10515600" cy="822960"/>
          </a:xfrm>
          <a:prstGeom prst="rect">
            <a:avLst/>
          </a:prstGeom>
          <a:noFill/>
          <a:ln/>
        </p:spPr>
        <p:txBody>
          <a:bodyPr wrap="square" rtlCol="0" anchor="ctr"/>
          <a:lstStyle/>
          <a:p>
            <a:pPr algn="ctr" indent="0" marL="0">
              <a:buNone/>
            </a:pPr>
            <a:r>
              <a:t>Thank You</a:t>
            </a:r>
            <a:endParaRPr lang="en-US" sz="4000" dirty="0"/>
          </a:p>
        </p:txBody>
      </p:sp>
      <p:sp>
        <p:nvSpPr>
          <p:cNvPr id="7" name="Text 4"/>
          <p:cNvSpPr/>
          <p:nvPr/>
        </p:nvSpPr>
        <p:spPr>
          <a:xfrm>
            <a:off x="822960" y="4434840"/>
            <a:ext cx="10515600" cy="365760"/>
          </a:xfrm>
          <a:prstGeom prst="rect">
            <a:avLst/>
          </a:prstGeom>
          <a:noFill/>
          <a:ln/>
        </p:spPr>
        <p:txBody>
          <a:bodyPr wrap="square" rtlCol="0" anchor="ctr"/>
          <a:lstStyle/>
          <a:p>
            <a:pPr algn="ctr" indent="0" marL="0">
              <a:buNone/>
            </a:pPr>
            <a:r>
              <a:t>Mudit Sharma  |  Roll No. 25SCS1003002812  |  B.Tech CSE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2026-08-30T11:30:18Z</dcterms:created>
  <dcterms:modified xsi:type="dcterms:W3CDTF">2026-08-30T11:30:18Z</dcterms:modified>
</cp:coreProperties>
</file>